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>
        <p:scale>
          <a:sx n="75" d="100"/>
          <a:sy n="75" d="100"/>
        </p:scale>
        <p:origin x="946" y="12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9144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D4A843"/>
                </a:solidFill>
                <a:latin typeface="Segoe UI"/>
              </a:defRPr>
            </a:pPr>
            <a:r>
              <a:rPr b="1">
                <a:solidFill>
                  <a:srgbClr val="A57319"/>
                </a:solidFill>
              </a:rPr>
              <a:t>B I T T U   X E R O X   K I O S 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828800"/>
            <a:ext cx="1219169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400" b="1">
                <a:solidFill>
                  <a:srgbClr val="2AE88B"/>
                </a:solidFill>
                <a:latin typeface="Segoe UI"/>
              </a:defRPr>
            </a:pPr>
            <a:r>
              <a:rPr b="1">
                <a:solidFill>
                  <a:srgbClr val="1A1A1A"/>
                </a:solidFill>
              </a:rPr>
              <a:t>15,000+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200400"/>
            <a:ext cx="121916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F2F0E8"/>
                </a:solidFill>
                <a:latin typeface="Segoe UI"/>
              </a:defRPr>
            </a:pPr>
            <a:r>
              <a:rPr>
                <a:solidFill>
                  <a:srgbClr val="4A5055"/>
                </a:solidFill>
              </a:rPr>
              <a:t>students.   1 photocopy shop.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84048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7A8A7E"/>
                </a:solidFill>
                <a:latin typeface="Segoe UI"/>
              </a:defRPr>
            </a:pPr>
            <a:r>
              <a:rPr>
                <a:solidFill>
                  <a:srgbClr val="4A5055"/>
                </a:solidFill>
              </a:rPr>
              <a:t>Closes at 5:30 PM.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0" y="4846320"/>
            <a:ext cx="2103120" cy="36576"/>
          </a:xfrm>
          <a:prstGeom prst="round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0" y="512064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7A8A7E"/>
                </a:solidFill>
                <a:latin typeface="Segoe UI"/>
              </a:defRPr>
            </a:pPr>
            <a:r>
              <a:rPr>
                <a:solidFill>
                  <a:srgbClr val="4A5055"/>
                </a:solidFill>
              </a:rPr>
              <a:t>Autonomous 24/7 Smart Self-Service Printing &amp; Document Kiosk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5943600"/>
            <a:ext cx="121916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D4A843"/>
                </a:solidFill>
                <a:latin typeface="Segoe UI"/>
              </a:defRPr>
            </a:pPr>
            <a:r>
              <a:rPr>
                <a:solidFill>
                  <a:srgbClr val="4A5055"/>
                </a:solidFill>
              </a:rPr>
              <a:t>Zero Queues  ·  Zero Leakage  ·  24/7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74C3C"/>
                </a:solidFill>
                <a:latin typeface="Segoe UI"/>
              </a:defRPr>
            </a:pPr>
            <a:r>
              <a:rPr b="1">
                <a:solidFill>
                  <a:srgbClr val="A57319"/>
                </a:solidFill>
              </a:rPr>
              <a:t>T H E   C R I S I 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2F0E8"/>
                </a:solidFill>
                <a:latin typeface="Segoe UI"/>
              </a:defRPr>
            </a:pPr>
            <a:r>
              <a:rPr b="1">
                <a:solidFill>
                  <a:srgbClr val="1A1A1A"/>
                </a:solidFill>
              </a:rPr>
              <a:t>Your Aadhaar on a stranger's phone.</a:t>
            </a:r>
          </a:p>
        </p:txBody>
      </p:sp>
      <p:pic>
        <p:nvPicPr>
          <p:cNvPr id="4" name="Picture 3" descr="problem_privacy_risk_179044151707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17320"/>
            <a:ext cx="10698480" cy="3749039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" y="5394960"/>
            <a:ext cx="333756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5468112"/>
            <a:ext cx="2971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2F0E8"/>
                </a:solidFill>
                <a:latin typeface="Segoe UI"/>
              </a:defRPr>
            </a:pPr>
            <a:r>
              <a:rPr>
                <a:solidFill>
                  <a:srgbClr val="4A5055"/>
                </a:solidFill>
              </a:rPr>
              <a:t>🕐  9:30 AM – 5:30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897880"/>
            <a:ext cx="2971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7A8A7E"/>
                </a:solidFill>
                <a:latin typeface="Segoe UI"/>
              </a:defRPr>
            </a:pPr>
            <a:r>
              <a:rPr>
                <a:solidFill>
                  <a:srgbClr val="4A5055"/>
                </a:solidFill>
              </a:rPr>
              <a:t>Restricted Hours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5394960"/>
            <a:ext cx="333756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26280" y="5468112"/>
            <a:ext cx="2971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2F0E8"/>
                </a:solidFill>
                <a:latin typeface="Segoe UI"/>
              </a:defRPr>
            </a:pPr>
            <a:r>
              <a:rPr>
                <a:solidFill>
                  <a:srgbClr val="4A5055"/>
                </a:solidFill>
              </a:rPr>
              <a:t>⏱️  20–45 Minutes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80" y="5897880"/>
            <a:ext cx="2971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7A8A7E"/>
                </a:solidFill>
                <a:latin typeface="Segoe UI"/>
              </a:defRPr>
            </a:pPr>
            <a:r>
              <a:rPr>
                <a:solidFill>
                  <a:srgbClr val="4A5055"/>
                </a:solidFill>
              </a:rPr>
              <a:t>Peak Queue Time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55280" y="5394960"/>
            <a:ext cx="333756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138160" y="5468112"/>
            <a:ext cx="2971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2F0E8"/>
                </a:solidFill>
                <a:latin typeface="Segoe UI"/>
              </a:defRPr>
            </a:pPr>
            <a:r>
              <a:rPr dirty="0">
                <a:solidFill>
                  <a:srgbClr val="4A5055"/>
                </a:solidFill>
              </a:rPr>
              <a:t>💸  ₹3 – ₹5 / Page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0" y="5897880"/>
            <a:ext cx="2971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7A8A7E"/>
                </a:solidFill>
                <a:latin typeface="Segoe UI"/>
              </a:defRPr>
            </a:pPr>
            <a:r>
              <a:rPr>
                <a:solidFill>
                  <a:srgbClr val="4A5055"/>
                </a:solidFill>
              </a:rPr>
              <a:t>Monopoly Pricing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4A843"/>
                </a:solidFill>
                <a:latin typeface="Segoe UI"/>
              </a:defRPr>
            </a:pPr>
            <a:r>
              <a:rPr b="1">
                <a:solidFill>
                  <a:srgbClr val="A57319"/>
                </a:solidFill>
              </a:rPr>
              <a:t>T H E   S O L U T I O 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F2F0E8"/>
                </a:solidFill>
                <a:latin typeface="Segoe UI"/>
              </a:defRPr>
            </a:pPr>
            <a:r>
              <a:rPr b="1">
                <a:solidFill>
                  <a:srgbClr val="1A1A1A"/>
                </a:solidFill>
              </a:rPr>
              <a:t>Meet Bittu.</a:t>
            </a:r>
          </a:p>
        </p:txBody>
      </p:sp>
      <p:pic>
        <p:nvPicPr>
          <p:cNvPr id="4" name="Picture 3" descr="kiosk_hero_corridor_17904414028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10698480" cy="39319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" y="5532120"/>
            <a:ext cx="246888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5596128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AE88B"/>
                </a:solidFill>
                <a:latin typeface="Segoe UI"/>
              </a:defRPr>
            </a:pPr>
            <a:r>
              <a:rPr b="1">
                <a:solidFill>
                  <a:srgbClr val="1A1A1A"/>
                </a:solidFill>
              </a:rPr>
              <a:t>24/7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98932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A8A7E"/>
                </a:solidFill>
                <a:latin typeface="Segoe UI"/>
              </a:defRPr>
            </a:pPr>
            <a:r>
              <a:rPr>
                <a:solidFill>
                  <a:srgbClr val="4A5055"/>
                </a:solidFill>
              </a:rPr>
              <a:t>Always 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47288" y="5532120"/>
            <a:ext cx="246888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584448" y="5596128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D4A843"/>
                </a:solidFill>
                <a:latin typeface="Segoe UI"/>
              </a:defRPr>
            </a:pPr>
            <a:r>
              <a:rPr b="1">
                <a:solidFill>
                  <a:srgbClr val="1A1A1A"/>
                </a:solidFill>
              </a:rPr>
              <a:t>₹2.50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84448" y="598932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A8A7E"/>
                </a:solidFill>
                <a:latin typeface="Segoe UI"/>
              </a:defRPr>
            </a:pPr>
            <a:r>
              <a:rPr>
                <a:solidFill>
                  <a:srgbClr val="4A5055"/>
                </a:solidFill>
              </a:rPr>
              <a:t>Per Page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3056" y="5532120"/>
            <a:ext cx="246888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00216" y="5596128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AE88B"/>
                </a:solidFill>
                <a:latin typeface="Segoe UI"/>
              </a:defRPr>
            </a:pPr>
            <a:r>
              <a:rPr b="1">
                <a:solidFill>
                  <a:srgbClr val="1A1A1A"/>
                </a:solidFill>
              </a:rPr>
              <a:t>0.36 m²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0216" y="598932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A8A7E"/>
                </a:solidFill>
                <a:latin typeface="Segoe UI"/>
              </a:defRPr>
            </a:pPr>
            <a:r>
              <a:rPr>
                <a:solidFill>
                  <a:srgbClr val="4A5055"/>
                </a:solidFill>
              </a:rPr>
              <a:t>Footprint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78824" y="5532120"/>
            <a:ext cx="246888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015984" y="5596128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D4A843"/>
                </a:solidFill>
                <a:latin typeface="Segoe UI"/>
              </a:defRPr>
            </a:pPr>
            <a:r>
              <a:rPr b="1">
                <a:solidFill>
                  <a:srgbClr val="1A1A1A"/>
                </a:solidFill>
              </a:rPr>
              <a:t>🔒 Secure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15984" y="598932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A8A7E"/>
                </a:solidFill>
                <a:latin typeface="Segoe UI"/>
              </a:defRPr>
            </a:pPr>
            <a:r>
              <a:rPr>
                <a:solidFill>
                  <a:srgbClr val="4A5055"/>
                </a:solidFill>
              </a:rPr>
              <a:t>Zero Data Retention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274320"/>
            <a:ext cx="121916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D4A843"/>
                </a:solidFill>
                <a:latin typeface="Segoe UI"/>
              </a:defRPr>
            </a:pPr>
            <a:r>
              <a:rPr b="1">
                <a:solidFill>
                  <a:srgbClr val="A57319"/>
                </a:solidFill>
              </a:rPr>
              <a:t>W O R K F L O 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594360"/>
            <a:ext cx="121916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800" b="1">
                <a:solidFill>
                  <a:srgbClr val="F2F0E8"/>
                </a:solidFill>
                <a:latin typeface="Segoe UI"/>
              </a:defRPr>
            </a:pPr>
            <a:r>
              <a:rPr b="1">
                <a:solidFill>
                  <a:srgbClr val="1A1A1A"/>
                </a:solidFill>
              </a:rPr>
              <a:t>Scan.  Upload.  Pay.  Print.</a:t>
            </a:r>
          </a:p>
        </p:txBody>
      </p:sp>
      <p:pic>
        <p:nvPicPr>
          <p:cNvPr id="4" name="Picture 3" descr="user_flow_infographic_179044141528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10332720" cy="3840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0" y="534924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7A8A7E"/>
                </a:solidFill>
                <a:latin typeface="Segoe UI"/>
              </a:defRPr>
            </a:pPr>
            <a:r>
              <a:rPr>
                <a:solidFill>
                  <a:srgbClr val="4A5055"/>
                </a:solidFill>
              </a:rPr>
              <a:t>Under 60 seconds.  No app download.  No clerk.  No queue.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5806440"/>
            <a:ext cx="265176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11879" y="58521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AE88B"/>
                </a:solidFill>
                <a:latin typeface="Segoe UI"/>
              </a:defRPr>
            </a:pPr>
            <a:r>
              <a:rPr>
                <a:solidFill>
                  <a:srgbClr val="4A5055"/>
                </a:solidFill>
              </a:rPr>
              <a:t>QR + Web Upload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11879" y="617220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A8A7E"/>
                </a:solidFill>
                <a:latin typeface="Segoe UI"/>
              </a:defRPr>
            </a:pPr>
            <a:r>
              <a:rPr>
                <a:solidFill>
                  <a:srgbClr val="4A5055"/>
                </a:solidFill>
              </a:rPr>
              <a:t>No app install needed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5806440"/>
            <a:ext cx="265176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37960" y="58521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AE88B"/>
                </a:solidFill>
                <a:latin typeface="Segoe UI"/>
              </a:defRPr>
            </a:pPr>
            <a:r>
              <a:rPr>
                <a:solidFill>
                  <a:srgbClr val="4A5055"/>
                </a:solidFill>
              </a:rPr>
              <a:t>Telegram / WhatsApp Bot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617220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A8A7E"/>
                </a:solidFill>
                <a:latin typeface="Segoe UI"/>
              </a:defRPr>
            </a:pPr>
            <a:r>
              <a:rPr>
                <a:solidFill>
                  <a:srgbClr val="4A5055"/>
                </a:solidFill>
              </a:rPr>
              <a:t>Send doc → get PIN → print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4A843"/>
                </a:solidFill>
                <a:latin typeface="Segoe UI"/>
              </a:defRPr>
            </a:pPr>
            <a:r>
              <a:rPr b="1">
                <a:solidFill>
                  <a:srgbClr val="A57319"/>
                </a:solidFill>
              </a:rPr>
              <a:t>U N I T   E C O N O M I C 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F2F0E8"/>
                </a:solidFill>
                <a:latin typeface="Segoe UI"/>
              </a:defRPr>
            </a:pPr>
            <a:r>
              <a:rPr b="1">
                <a:solidFill>
                  <a:srgbClr val="1A1A1A"/>
                </a:solidFill>
              </a:rPr>
              <a:t>The Numbers Work.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17320"/>
            <a:ext cx="4572000" cy="3520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0120" y="150876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7A8A7E"/>
                </a:solidFill>
                <a:latin typeface="Segoe UI"/>
              </a:defRPr>
            </a:pPr>
            <a:r>
              <a:rPr b="1">
                <a:solidFill>
                  <a:srgbClr val="A57319"/>
                </a:solidFill>
              </a:rPr>
              <a:t>COST BREAKDOWN PER PAGE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1874519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2F0E8"/>
                </a:solidFill>
                <a:latin typeface="Segoe UI"/>
              </a:defRPr>
            </a:pPr>
            <a:r>
              <a:rPr>
                <a:solidFill>
                  <a:srgbClr val="4A5055"/>
                </a:solidFill>
              </a:rPr>
              <a:t>🟢 Paper (75 GSM)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1874519"/>
            <a:ext cx="777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D4A843"/>
                </a:solidFill>
                <a:latin typeface="Segoe UI"/>
              </a:defRPr>
            </a:pPr>
            <a:r>
              <a:rPr>
                <a:solidFill>
                  <a:srgbClr val="4A5055"/>
                </a:solidFill>
              </a:rPr>
              <a:t>₹0.52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874519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A8A7E"/>
                </a:solidFill>
                <a:latin typeface="Segoe UI"/>
              </a:defRPr>
            </a:pPr>
            <a:r>
              <a:rPr>
                <a:solidFill>
                  <a:srgbClr val="4A5055"/>
                </a:solidFill>
              </a:rPr>
              <a:t>43%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25856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2F0E8"/>
                </a:solidFill>
                <a:latin typeface="Segoe UI"/>
              </a:defRPr>
            </a:pPr>
            <a:r>
              <a:rPr>
                <a:solidFill>
                  <a:srgbClr val="4A5055"/>
                </a:solidFill>
              </a:rPr>
              <a:t>🟡 Toner Cartridge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2258568"/>
            <a:ext cx="777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D4A843"/>
                </a:solidFill>
                <a:latin typeface="Segoe UI"/>
              </a:defRPr>
            </a:pPr>
            <a:r>
              <a:rPr>
                <a:solidFill>
                  <a:srgbClr val="4A5055"/>
                </a:solidFill>
              </a:rPr>
              <a:t>₹0.25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25856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A8A7E"/>
                </a:solidFill>
                <a:latin typeface="Segoe UI"/>
              </a:defRPr>
            </a:pPr>
            <a:r>
              <a:rPr>
                <a:solidFill>
                  <a:srgbClr val="4A5055"/>
                </a:solidFill>
              </a:rPr>
              <a:t>21%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642615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2F0E8"/>
                </a:solidFill>
                <a:latin typeface="Segoe UI"/>
              </a:defRPr>
            </a:pPr>
            <a:r>
              <a:rPr>
                <a:solidFill>
                  <a:srgbClr val="4A5055"/>
                </a:solidFill>
              </a:rPr>
              <a:t>🟠 Drum Amortization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39" y="2642615"/>
            <a:ext cx="777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D4A843"/>
                </a:solidFill>
                <a:latin typeface="Segoe UI"/>
              </a:defRPr>
            </a:pPr>
            <a:r>
              <a:rPr>
                <a:solidFill>
                  <a:srgbClr val="4A5055"/>
                </a:solidFill>
              </a:rPr>
              <a:t>₹0.10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642615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A8A7E"/>
                </a:solidFill>
                <a:latin typeface="Segoe UI"/>
              </a:defRPr>
            </a:pPr>
            <a:r>
              <a:rPr>
                <a:solidFill>
                  <a:srgbClr val="4A5055"/>
                </a:solidFill>
              </a:rPr>
              <a:t>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026663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2F0E8"/>
                </a:solidFill>
                <a:latin typeface="Segoe UI"/>
              </a:defRPr>
            </a:pPr>
            <a:r>
              <a:rPr>
                <a:solidFill>
                  <a:srgbClr val="4A5055"/>
                </a:solidFill>
              </a:rPr>
              <a:t>🔵 Electricity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3026663"/>
            <a:ext cx="777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D4A843"/>
                </a:solidFill>
                <a:latin typeface="Segoe UI"/>
              </a:defRPr>
            </a:pPr>
            <a:r>
              <a:rPr>
                <a:solidFill>
                  <a:srgbClr val="4A5055"/>
                </a:solidFill>
              </a:rPr>
              <a:t>₹0.03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026663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A8A7E"/>
                </a:solidFill>
                <a:latin typeface="Segoe UI"/>
              </a:defRPr>
            </a:pPr>
            <a:r>
              <a:rPr>
                <a:solidFill>
                  <a:srgbClr val="4A5055"/>
                </a:solidFill>
              </a:rPr>
              <a:t>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410711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2F0E8"/>
                </a:solidFill>
                <a:latin typeface="Segoe UI"/>
              </a:defRPr>
            </a:pPr>
            <a:r>
              <a:rPr>
                <a:solidFill>
                  <a:srgbClr val="4A5055"/>
                </a:solidFill>
              </a:rPr>
              <a:t>🟤 Jam/Misprint Buffer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39" y="3410711"/>
            <a:ext cx="777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D4A843"/>
                </a:solidFill>
                <a:latin typeface="Segoe UI"/>
              </a:defRPr>
            </a:pPr>
            <a:r>
              <a:rPr>
                <a:solidFill>
                  <a:srgbClr val="4A5055"/>
                </a:solidFill>
              </a:rPr>
              <a:t>₹0.05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3410711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A8A7E"/>
                </a:solidFill>
                <a:latin typeface="Segoe UI"/>
              </a:defRPr>
            </a:pPr>
            <a:r>
              <a:rPr>
                <a:solidFill>
                  <a:srgbClr val="4A5055"/>
                </a:solidFill>
              </a:rPr>
              <a:t>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37947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2F0E8"/>
                </a:solidFill>
                <a:latin typeface="Segoe UI"/>
              </a:defRPr>
            </a:pPr>
            <a:r>
              <a:rPr>
                <a:solidFill>
                  <a:srgbClr val="4A5055"/>
                </a:solidFill>
              </a:rPr>
              <a:t>🔴 Campus Floor Share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794760"/>
            <a:ext cx="777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D4A843"/>
                </a:solidFill>
                <a:latin typeface="Segoe UI"/>
              </a:defRPr>
            </a:pPr>
            <a:r>
              <a:rPr>
                <a:solidFill>
                  <a:srgbClr val="4A5055"/>
                </a:solidFill>
              </a:rPr>
              <a:t>₹0.25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79476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A8A7E"/>
                </a:solidFill>
                <a:latin typeface="Segoe UI"/>
              </a:defRPr>
            </a:pPr>
            <a:r>
              <a:rPr>
                <a:solidFill>
                  <a:srgbClr val="4A5055"/>
                </a:solidFill>
              </a:rPr>
              <a:t>21%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60120" y="4206240"/>
            <a:ext cx="4114800" cy="27432"/>
          </a:xfrm>
          <a:prstGeom prst="roundRect">
            <a:avLst/>
          </a:prstGeom>
          <a:solidFill>
            <a:srgbClr val="E4DE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60120" y="42976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2F0E8"/>
                </a:solidFill>
                <a:latin typeface="Segoe UI"/>
              </a:defRPr>
            </a:pPr>
            <a:r>
              <a:rPr>
                <a:solidFill>
                  <a:srgbClr val="4A5055"/>
                </a:solidFill>
              </a:rPr>
              <a:t>Total Production Cost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49039" y="42976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D4A843"/>
                </a:solidFill>
                <a:latin typeface="Segoe UI"/>
              </a:defRPr>
            </a:pPr>
            <a:r>
              <a:rPr>
                <a:solidFill>
                  <a:srgbClr val="4A5055"/>
                </a:solidFill>
              </a:rPr>
              <a:t>₹1.20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0" y="1417320"/>
            <a:ext cx="57607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943600" y="155448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7A8A7E"/>
                </a:solidFill>
                <a:latin typeface="Segoe UI"/>
              </a:defRPr>
            </a:pPr>
            <a:r>
              <a:rPr>
                <a:solidFill>
                  <a:srgbClr val="4A5055"/>
                </a:solidFill>
              </a:rPr>
              <a:t>COST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0" y="178308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E74C3C"/>
                </a:solidFill>
                <a:latin typeface="Segoe UI"/>
              </a:defRPr>
            </a:pPr>
            <a:r>
              <a:rPr>
                <a:solidFill>
                  <a:srgbClr val="4A5055"/>
                </a:solidFill>
              </a:rPr>
              <a:t>₹1.20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55279" y="155448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7A8A7E"/>
                </a:solidFill>
                <a:latin typeface="Segoe UI"/>
              </a:defRPr>
            </a:pPr>
            <a:r>
              <a:rPr>
                <a:solidFill>
                  <a:srgbClr val="4A5055"/>
                </a:solidFill>
              </a:rPr>
              <a:t>SELL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55279" y="178308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2F0E8"/>
                </a:solidFill>
                <a:latin typeface="Segoe UI"/>
              </a:defRPr>
            </a:pPr>
            <a:r>
              <a:rPr b="1">
                <a:solidFill>
                  <a:srgbClr val="1A1A1A"/>
                </a:solidFill>
              </a:rPr>
              <a:t>₹2.50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66960" y="155448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7A8A7E"/>
                </a:solidFill>
                <a:latin typeface="Segoe UI"/>
              </a:defRPr>
            </a:pPr>
            <a:r>
              <a:rPr>
                <a:solidFill>
                  <a:srgbClr val="4A5055"/>
                </a:solidFill>
              </a:rPr>
              <a:t>PROFIT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66960" y="178308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2AE88B"/>
                </a:solidFill>
                <a:latin typeface="Segoe UI"/>
              </a:defRPr>
            </a:pPr>
            <a:r>
              <a:rPr b="1">
                <a:solidFill>
                  <a:srgbClr val="059669"/>
                </a:solidFill>
              </a:rPr>
              <a:t>₹1.30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0" y="1828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7A8A7E"/>
                </a:solidFill>
                <a:latin typeface="Segoe UI"/>
              </a:defRPr>
            </a:pPr>
            <a:r>
              <a:rPr>
                <a:solidFill>
                  <a:srgbClr val="4A5055"/>
                </a:solidFill>
              </a:rPr>
              <a:t>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26880" y="1828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7A8A7E"/>
                </a:solidFill>
                <a:latin typeface="Segoe UI"/>
              </a:defRPr>
            </a:pPr>
            <a:r>
              <a:rPr>
                <a:solidFill>
                  <a:srgbClr val="4A5055"/>
                </a:solidFill>
              </a:rPr>
              <a:t>=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43600" y="25146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D4A843"/>
                </a:solidFill>
                <a:latin typeface="Segoe UI"/>
              </a:defRPr>
            </a:pPr>
            <a:r>
              <a:rPr b="1">
                <a:solidFill>
                  <a:srgbClr val="059669"/>
                </a:solidFill>
              </a:rPr>
              <a:t>52% Gross Margin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61120" y="26060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7A8A7E"/>
                </a:solidFill>
                <a:latin typeface="Segoe UI"/>
              </a:defRPr>
            </a:pPr>
            <a:r>
              <a:rPr>
                <a:solidFill>
                  <a:srgbClr val="4A5055"/>
                </a:solidFill>
              </a:rPr>
              <a:t>CAPEX: ₹48,400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669280" y="3474720"/>
            <a:ext cx="576072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943600" y="356616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7A8A7E"/>
                </a:solidFill>
                <a:latin typeface="Segoe UI"/>
              </a:defRPr>
            </a:pPr>
            <a:r>
              <a:rPr b="1">
                <a:solidFill>
                  <a:srgbClr val="A57319"/>
                </a:solidFill>
              </a:rPr>
              <a:t>MONTHLY PROFIT &amp; PAYBACK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3977639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2F0E8"/>
                </a:solidFill>
                <a:latin typeface="Segoe UI"/>
              </a:defRPr>
            </a:pPr>
            <a:r>
              <a:rPr>
                <a:solidFill>
                  <a:srgbClr val="4A5055"/>
                </a:solidFill>
              </a:rPr>
              <a:t>Conservative  ·  150 pages/day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18320" y="3977639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1B6B4E"/>
                </a:solidFill>
                <a:latin typeface="Segoe UI"/>
              </a:defRPr>
            </a:pPr>
            <a:r>
              <a:rPr>
                <a:solidFill>
                  <a:srgbClr val="4A5055"/>
                </a:solidFill>
              </a:rPr>
              <a:t>₹4,875/mo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943600" y="4251959"/>
            <a:ext cx="5303520" cy="182880"/>
          </a:xfrm>
          <a:prstGeom prst="roundRect">
            <a:avLst/>
          </a:prstGeom>
          <a:solidFill>
            <a:srgbClr val="EEE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5943600" y="4251959"/>
            <a:ext cx="1113739" cy="182880"/>
          </a:xfrm>
          <a:prstGeom prst="roundRect">
            <a:avLst/>
          </a:prstGeom>
          <a:solidFill>
            <a:srgbClr val="1B6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943600" y="4480559"/>
            <a:ext cx="5303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A8A7E"/>
                </a:solidFill>
                <a:latin typeface="Segoe UI"/>
              </a:defRPr>
            </a:pPr>
            <a:r>
              <a:rPr b="1">
                <a:solidFill>
                  <a:srgbClr val="059669"/>
                </a:solidFill>
              </a:rPr>
              <a:t>Payback: ~10.5 months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89204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2F0E8"/>
                </a:solidFill>
                <a:latin typeface="Segoe UI"/>
              </a:defRPr>
            </a:pPr>
            <a:r>
              <a:rPr>
                <a:solidFill>
                  <a:srgbClr val="4A5055"/>
                </a:solidFill>
              </a:rPr>
              <a:t>Realistic  ·  350 pages/day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18320" y="489204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2AE88B"/>
                </a:solidFill>
                <a:latin typeface="Segoe UI"/>
              </a:defRPr>
            </a:pPr>
            <a:r>
              <a:rPr b="1">
                <a:solidFill>
                  <a:srgbClr val="059669"/>
                </a:solidFill>
              </a:rPr>
              <a:t>₹11,375/mo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943600" y="5166359"/>
            <a:ext cx="5303520" cy="182880"/>
          </a:xfrm>
          <a:prstGeom prst="roundRect">
            <a:avLst/>
          </a:prstGeom>
          <a:solidFill>
            <a:srgbClr val="EEE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ounded Rectangle 47"/>
          <p:cNvSpPr/>
          <p:nvPr/>
        </p:nvSpPr>
        <p:spPr>
          <a:xfrm>
            <a:off x="5943600" y="5166359"/>
            <a:ext cx="2651760" cy="182880"/>
          </a:xfrm>
          <a:prstGeom prst="roundRect">
            <a:avLst/>
          </a:prstGeom>
          <a:solidFill>
            <a:srgbClr val="2AE8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5943600" y="5394959"/>
            <a:ext cx="5303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A8A7E"/>
                </a:solidFill>
                <a:latin typeface="Segoe UI"/>
              </a:defRPr>
            </a:pPr>
            <a:r>
              <a:rPr b="1">
                <a:solidFill>
                  <a:srgbClr val="059669"/>
                </a:solidFill>
              </a:rPr>
              <a:t>Payback: ~4.2 months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943600" y="580644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2F0E8"/>
                </a:solidFill>
                <a:latin typeface="Segoe UI"/>
              </a:defRPr>
            </a:pPr>
            <a:r>
              <a:rPr>
                <a:solidFill>
                  <a:srgbClr val="4A5055"/>
                </a:solidFill>
              </a:rPr>
              <a:t>Peak Season  ·  700 pages/day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18320" y="580644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50FF99"/>
                </a:solidFill>
                <a:latin typeface="Segoe UI"/>
              </a:defRPr>
            </a:pPr>
            <a:r>
              <a:rPr b="1">
                <a:solidFill>
                  <a:srgbClr val="059669"/>
                </a:solidFill>
              </a:rPr>
              <a:t>₹22,750/mo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943600" y="6080759"/>
            <a:ext cx="5303520" cy="182880"/>
          </a:xfrm>
          <a:prstGeom prst="roundRect">
            <a:avLst/>
          </a:prstGeom>
          <a:solidFill>
            <a:srgbClr val="EEE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ounded Rectangle 52"/>
          <p:cNvSpPr/>
          <p:nvPr/>
        </p:nvSpPr>
        <p:spPr>
          <a:xfrm>
            <a:off x="5943600" y="6080759"/>
            <a:ext cx="5303520" cy="182880"/>
          </a:xfrm>
          <a:prstGeom prst="roundRect">
            <a:avLst/>
          </a:prstGeom>
          <a:solidFill>
            <a:srgbClr val="50FF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5943600" y="6309359"/>
            <a:ext cx="5303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A8A7E"/>
                </a:solidFill>
                <a:latin typeface="Segoe UI"/>
              </a:defRPr>
            </a:pPr>
            <a:r>
              <a:rPr b="1">
                <a:solidFill>
                  <a:srgbClr val="059669"/>
                </a:solidFill>
              </a:rPr>
              <a:t>Payback: ~2.1 months ⚡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4A843"/>
                </a:solidFill>
                <a:latin typeface="Segoe UI"/>
              </a:defRPr>
            </a:pPr>
            <a:r>
              <a:rPr b="1">
                <a:solidFill>
                  <a:srgbClr val="A57319"/>
                </a:solidFill>
              </a:rPr>
              <a:t>C O M P E T I T I V E   E D G 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F2F0E8"/>
                </a:solidFill>
                <a:latin typeface="Segoe UI"/>
              </a:defRPr>
            </a:pPr>
            <a:r>
              <a:rPr b="1">
                <a:solidFill>
                  <a:srgbClr val="1A1A1A"/>
                </a:solidFill>
              </a:rPr>
              <a:t>70% Lower.  100% Yours.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2F0E8"/>
                </a:solidFill>
                <a:latin typeface="Segoe UI"/>
              </a:defRPr>
            </a:pPr>
            <a:r>
              <a:rPr>
                <a:solidFill>
                  <a:srgbClr val="4A5055"/>
                </a:solidFill>
              </a:rPr>
              <a:t>Qwikprint PRO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14630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E74C3C"/>
                </a:solidFill>
                <a:latin typeface="Segoe UI"/>
              </a:defRPr>
            </a:pPr>
            <a:r>
              <a:rPr>
                <a:solidFill>
                  <a:srgbClr val="4A5055"/>
                </a:solidFill>
              </a:rPr>
              <a:t>₹3.49 Lakh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347472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801368"/>
            <a:ext cx="103327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80C0A"/>
                </a:solidFill>
                <a:latin typeface="Segoe UI"/>
              </a:defRPr>
            </a:pPr>
            <a:r>
              <a:rPr b="1">
                <a:solidFill>
                  <a:srgbClr val="FFFFFF"/>
                </a:solidFill>
              </a:rPr>
              <a:t>Proprietary · Revenue Cut · No Campus API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060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2F0E8"/>
                </a:solidFill>
                <a:latin typeface="Segoe UI"/>
              </a:defRPr>
            </a:pPr>
            <a:r>
              <a:rPr>
                <a:solidFill>
                  <a:srgbClr val="4A5055"/>
                </a:solidFill>
              </a:rPr>
              <a:t>Qwikprint MINI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26060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F39C12"/>
                </a:solidFill>
                <a:latin typeface="Segoe UI"/>
              </a:defRPr>
            </a:pPr>
            <a:r>
              <a:rPr>
                <a:solidFill>
                  <a:srgbClr val="4A5055"/>
                </a:solidFill>
              </a:rPr>
              <a:t>₹1.65 Lakh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926080"/>
            <a:ext cx="5028285" cy="347472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2944368"/>
            <a:ext cx="466252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80C0A"/>
                </a:solidFill>
                <a:latin typeface="Segoe UI"/>
              </a:defRPr>
            </a:pPr>
            <a:r>
              <a:rPr b="1">
                <a:solidFill>
                  <a:srgbClr val="FFFFFF"/>
                </a:solidFill>
              </a:rPr>
              <a:t>Limited features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749039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4A843"/>
                </a:solidFill>
                <a:latin typeface="Segoe UI"/>
              </a:defRPr>
            </a:pPr>
            <a:r>
              <a:rPr b="1">
                <a:solidFill>
                  <a:srgbClr val="1A1A1A"/>
                </a:solidFill>
              </a:rPr>
              <a:t>★  Bittu Xerox Kiosk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3749039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D4A843"/>
                </a:solidFill>
                <a:latin typeface="Segoe UI"/>
              </a:defRPr>
            </a:pPr>
            <a:r>
              <a:rPr b="1">
                <a:solidFill>
                  <a:srgbClr val="1A1A1A"/>
                </a:solidFill>
              </a:rPr>
              <a:t>₹50,000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069079"/>
            <a:ext cx="1497787" cy="347472"/>
          </a:xfrm>
          <a:prstGeom prst="round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731520" y="4709160"/>
            <a:ext cx="338328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68680" y="4773168"/>
            <a:ext cx="3108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AE88B"/>
                </a:solidFill>
                <a:latin typeface="Segoe UI"/>
              </a:defRPr>
            </a:pPr>
            <a:r>
              <a:rPr>
                <a:solidFill>
                  <a:srgbClr val="4A5055"/>
                </a:solidFill>
              </a:rPr>
              <a:t>💰  100% Profit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12064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A8A7E"/>
                </a:solidFill>
                <a:latin typeface="Segoe UI"/>
              </a:defRPr>
            </a:pPr>
            <a:r>
              <a:rPr>
                <a:solidFill>
                  <a:srgbClr val="4A5055"/>
                </a:solidFill>
              </a:rPr>
              <a:t>No royalty splits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89120" y="4709160"/>
            <a:ext cx="338328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26280" y="4773168"/>
            <a:ext cx="3108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AE88B"/>
                </a:solidFill>
                <a:latin typeface="Segoe UI"/>
              </a:defRPr>
            </a:pPr>
            <a:r>
              <a:rPr>
                <a:solidFill>
                  <a:srgbClr val="4A5055"/>
                </a:solidFill>
              </a:rPr>
              <a:t>🔓  Open Source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512064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A8A7E"/>
                </a:solidFill>
                <a:latin typeface="Segoe UI"/>
              </a:defRPr>
            </a:pPr>
            <a:r>
              <a:rPr>
                <a:solidFill>
                  <a:srgbClr val="4A5055"/>
                </a:solidFill>
              </a:rPr>
              <a:t>Python + FastAPI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4709160"/>
            <a:ext cx="338328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183880" y="4773168"/>
            <a:ext cx="3108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AE88B"/>
                </a:solidFill>
                <a:latin typeface="Segoe UI"/>
              </a:defRPr>
            </a:pPr>
            <a:r>
              <a:rPr>
                <a:solidFill>
                  <a:srgbClr val="4A5055"/>
                </a:solidFill>
              </a:rPr>
              <a:t>🎓  Campus-Native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3880" y="512064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A8A7E"/>
                </a:solidFill>
                <a:latin typeface="Segoe UI"/>
              </a:defRPr>
            </a:pPr>
            <a:r>
              <a:rPr>
                <a:solidFill>
                  <a:srgbClr val="4A5055"/>
                </a:solidFill>
              </a:rPr>
              <a:t>ERP + Telegram Bot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715000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7A8A7E"/>
                </a:solidFill>
                <a:latin typeface="Segoe UI"/>
              </a:defRPr>
            </a:pPr>
            <a:r>
              <a:rPr b="1">
                <a:solidFill>
                  <a:srgbClr val="A57319"/>
                </a:solidFill>
              </a:rPr>
              <a:t>FULL 3D CAD  ·  ENGINEERED &amp; MODELED</a:t>
            </a:r>
          </a:p>
        </p:txBody>
      </p:sp>
      <p:pic>
        <p:nvPicPr>
          <p:cNvPr id="25" name="Picture 24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897880"/>
            <a:ext cx="2606040" cy="822960"/>
          </a:xfrm>
          <a:prstGeom prst="rect">
            <a:avLst/>
          </a:prstGeom>
        </p:spPr>
      </p:pic>
      <p:pic>
        <p:nvPicPr>
          <p:cNvPr id="26" name="Picture 25" descr="image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0439" y="5897880"/>
            <a:ext cx="2606040" cy="822960"/>
          </a:xfrm>
          <a:prstGeom prst="rect">
            <a:avLst/>
          </a:prstGeom>
        </p:spPr>
      </p:pic>
      <p:pic>
        <p:nvPicPr>
          <p:cNvPr id="27" name="Picture 26" descr="image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59" y="5897880"/>
            <a:ext cx="2606040" cy="822960"/>
          </a:xfrm>
          <a:prstGeom prst="rect">
            <a:avLst/>
          </a:prstGeom>
        </p:spPr>
      </p:pic>
      <p:pic>
        <p:nvPicPr>
          <p:cNvPr id="28" name="Picture 27" descr="image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98280" y="5897880"/>
            <a:ext cx="260604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457200"/>
            <a:ext cx="121916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D4A843"/>
                </a:solidFill>
                <a:latin typeface="Segoe UI"/>
              </a:defRPr>
            </a:pPr>
            <a:r>
              <a:rPr b="1">
                <a:solidFill>
                  <a:srgbClr val="A57319"/>
                </a:solidFill>
              </a:rPr>
              <a:t>T H E   A S 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82296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2F0E8"/>
                </a:solidFill>
                <a:latin typeface="Segoe UI"/>
              </a:defRPr>
            </a:pPr>
            <a:r>
              <a:rPr b="1">
                <a:solidFill>
                  <a:srgbClr val="1A1A1A"/>
                </a:solidFill>
              </a:rPr>
              <a:t>Let’s Build Together.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1828800"/>
            <a:ext cx="310896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645920" y="201168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D4A843"/>
                </a:solidFill>
                <a:latin typeface="Segoe UI"/>
              </a:defRPr>
            </a:pPr>
            <a:r>
              <a:rPr b="1">
                <a:solidFill>
                  <a:srgbClr val="1A1A1A"/>
                </a:solidFill>
              </a:rPr>
              <a:t>₹1 Lakh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265176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7A8A7E"/>
                </a:solidFill>
                <a:latin typeface="Segoe UI"/>
              </a:defRPr>
            </a:pPr>
            <a:r>
              <a:rPr>
                <a:solidFill>
                  <a:srgbClr val="4A5055"/>
                </a:solidFill>
              </a:rPr>
              <a:t>Seed Grant</a:t>
            </a:r>
          </a:p>
          <a:p>
            <a:pPr algn="ctr">
              <a:defRPr sz="1300" b="0">
                <a:solidFill>
                  <a:srgbClr val="7A8A7E"/>
                </a:solidFill>
                <a:latin typeface="Segoe UI"/>
              </a:defRPr>
            </a:pPr>
            <a:r>
              <a:rPr>
                <a:solidFill>
                  <a:srgbClr val="4A5055"/>
                </a:solidFill>
              </a:rPr>
              <a:t>for 2 Pilot Kiosks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46320" y="1828800"/>
            <a:ext cx="310896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120640" y="201168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2AE88B"/>
                </a:solidFill>
                <a:latin typeface="Segoe UI"/>
              </a:defRPr>
            </a:pPr>
            <a:r>
              <a:rPr b="1">
                <a:solidFill>
                  <a:srgbClr val="1A1A1A"/>
                </a:solidFill>
              </a:rPr>
              <a:t>0.36 m²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2651760"/>
            <a:ext cx="256032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7A8A7E"/>
                </a:solidFill>
                <a:latin typeface="Segoe UI"/>
              </a:defRPr>
            </a:pPr>
            <a:r>
              <a:rPr dirty="0">
                <a:solidFill>
                  <a:srgbClr val="4A5055"/>
                </a:solidFill>
              </a:rPr>
              <a:t>Lobby Space</a:t>
            </a:r>
          </a:p>
          <a:p>
            <a:pPr algn="ctr">
              <a:defRPr sz="1300" b="0">
                <a:solidFill>
                  <a:srgbClr val="7A8A7E"/>
                </a:solidFill>
                <a:latin typeface="Segoe UI"/>
              </a:defRPr>
            </a:pPr>
            <a:r>
              <a:rPr dirty="0">
                <a:solidFill>
                  <a:srgbClr val="4A5055"/>
                </a:solidFill>
              </a:rPr>
              <a:t>+ 1 Power Socket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21040" y="1828800"/>
            <a:ext cx="310896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595360" y="2011680"/>
            <a:ext cx="25603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D4A843"/>
                </a:solidFill>
                <a:latin typeface="Segoe UI"/>
              </a:defRPr>
            </a:pPr>
            <a:r>
              <a:rPr lang="en-IN" dirty="0">
                <a:solidFill>
                  <a:srgbClr val="4A5055"/>
                </a:solidFill>
              </a:rPr>
              <a:t>~</a:t>
            </a:r>
            <a:r>
              <a:rPr dirty="0" b="1">
                <a:solidFill>
                  <a:srgbClr val="1A1A1A"/>
                </a:solidFill>
              </a:rPr>
              <a:t>30 Days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265176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7A8A7E"/>
                </a:solidFill>
                <a:latin typeface="Segoe UI"/>
              </a:defRPr>
            </a:pPr>
            <a:r>
              <a:rPr>
                <a:solidFill>
                  <a:srgbClr val="4A5055"/>
                </a:solidFill>
              </a:rPr>
              <a:t>To Deliver</a:t>
            </a:r>
          </a:p>
          <a:p>
            <a:pPr algn="ctr">
              <a:defRPr sz="1300" b="0">
                <a:solidFill>
                  <a:srgbClr val="7A8A7E"/>
                </a:solidFill>
                <a:latin typeface="Segoe UI"/>
              </a:defRPr>
            </a:pPr>
            <a:r>
              <a:rPr>
                <a:solidFill>
                  <a:srgbClr val="4A5055"/>
                </a:solidFill>
              </a:rPr>
              <a:t>Working Pilot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28800" y="4206240"/>
            <a:ext cx="85039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103120" y="4343400"/>
            <a:ext cx="795527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2F0E8"/>
                </a:solidFill>
                <a:latin typeface="Segoe UI"/>
              </a:defRPr>
            </a:pPr>
            <a:r>
              <a:rPr dirty="0">
                <a:solidFill>
                  <a:srgbClr val="4A5055"/>
                </a:solidFill>
              </a:rPr>
              <a:t>Start with 1 kiosk at KLU.  Scale to </a:t>
            </a:r>
            <a:r>
              <a:rPr lang="en-IN" dirty="0">
                <a:solidFill>
                  <a:srgbClr val="4A5055"/>
                </a:solidFill>
              </a:rPr>
              <a:t>~50</a:t>
            </a:r>
            <a:r>
              <a:rPr dirty="0">
                <a:solidFill>
                  <a:srgbClr val="4A5055"/>
                </a:solidFill>
              </a:rPr>
              <a:t> campuses across AP &amp; Telangana.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4800600"/>
            <a:ext cx="79552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A8A7E"/>
                </a:solidFill>
                <a:latin typeface="Segoe UI"/>
              </a:defRPr>
            </a:pPr>
            <a:r>
              <a:rPr>
                <a:solidFill>
                  <a:srgbClr val="4A5055"/>
                </a:solidFill>
              </a:rPr>
              <a:t>Every exam season without a kiosk = 2,00,000+ pages of unserved demand.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0" y="5669280"/>
            <a:ext cx="2103120" cy="36576"/>
          </a:xfrm>
          <a:prstGeom prst="round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0" y="5852160"/>
            <a:ext cx="121916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D4A843"/>
                </a:solidFill>
                <a:latin typeface="Segoe UI"/>
              </a:defRPr>
            </a:pPr>
            <a:r>
              <a:rPr>
                <a:solidFill>
                  <a:srgbClr val="4A5055"/>
                </a:solidFill>
              </a:rPr>
              <a:t>Bittu Xerox Kiosk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0" y="6172200"/>
            <a:ext cx="121916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7A8A7E"/>
                </a:solidFill>
                <a:latin typeface="Segoe UI"/>
              </a:defRPr>
            </a:pPr>
            <a:r>
              <a:rPr>
                <a:solidFill>
                  <a:srgbClr val="4A5055"/>
                </a:solidFill>
              </a:rPr>
              <a:t>Zero Queues  ·  Zero Leakage  ·  24/7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454</Words>
  <Application>Microsoft Office PowerPoint</Application>
  <PresentationFormat>Widescreen</PresentationFormat>
  <Paragraphs>106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naren.svim@outlook.com</cp:lastModifiedBy>
  <cp:revision>2</cp:revision>
  <dcterms:created xsi:type="dcterms:W3CDTF">2013-01-27T09:14:16Z</dcterms:created>
  <dcterms:modified xsi:type="dcterms:W3CDTF">2026-09-26T17:24:10Z</dcterms:modified>
  <cp:category/>
</cp:coreProperties>
</file>