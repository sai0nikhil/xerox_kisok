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A57319"/>
                </a:solidFill>
              </a:rPr>
              <a:t>B I T </a:t>
            </a:r>
            <a:r>
              <a:rPr b="1">
                <a:solidFill>
                  <a:srgbClr val="A57319"/>
                </a:solidFill>
              </a:rPr>
              <a:t>T</a:t>
            </a:r>
            <a:r>
              <a:rPr b="1">
                <a:solidFill>
                  <a:srgbClr val="A57319"/>
                </a:solidFill>
              </a:rPr>
              <a:t> U</a:t>
            </a:r>
            <a:r>
              <a:rPr b="1">
                <a:solidFill>
                  <a:srgbClr val="A57319"/>
                </a:solidFill>
              </a:rPr>
              <a:t>   X E R O X   K I O S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1A1A1A"/>
                </a:solidFill>
              </a:rPr>
              <a:t>15,000+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students.   1 photocopy shop.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Closes at 5:30 PM.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846320"/>
            <a:ext cx="2103120" cy="36576"/>
          </a:xfrm>
          <a:prstGeom prst="roundRect">
            <a:avLst>
              <a:gd name="adj" fmla="val 16667"/>
            </a:avLst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Autonomous 24/7 Smart Self-Service Printing &amp; Document Kiosk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9436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Zero Queues  ·  Zero Leakage  ·  24/7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A57319"/>
                </a:solidFill>
              </a:rPr>
              <a:t>T H E   C R I S I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A1A1A"/>
                </a:solidFill>
              </a:rPr>
              <a:t>Your Aadhaar on a stranger's phone.</a:t>
            </a:r>
          </a:p>
        </p:txBody>
      </p:sp>
      <p:pic>
        <p:nvPicPr>
          <p:cNvPr id="5" name="Picture 4" descr="temp_img_1_Pictur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698480" cy="37490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394960"/>
            <a:ext cx="3337560" cy="1005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6811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🕐  9:30 AM – 5:30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978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Restricted Hours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5394960"/>
            <a:ext cx="3337560" cy="1005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546811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⏱️  20–45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58978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Peak Queue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5394960"/>
            <a:ext cx="3337560" cy="1005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546811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💸  ₹3 – ₹5 /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8978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Monopoly Pricing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A57319"/>
                </a:solidFill>
              </a:rPr>
              <a:t>T H E   S O L U T I O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A1A1A"/>
                </a:solidFill>
              </a:rPr>
              <a:t>Meet Bittu.</a:t>
            </a:r>
          </a:p>
        </p:txBody>
      </p:sp>
      <p:pic>
        <p:nvPicPr>
          <p:cNvPr id="5" name="Picture 4" descr="temp_img_2_Pictur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532120"/>
            <a:ext cx="246888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9612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1A1A1A"/>
                </a:solidFill>
              </a:rPr>
              <a:t>24/7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89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Always 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5532120"/>
            <a:ext cx="246888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559612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1A1A1A"/>
                </a:solidFill>
              </a:rPr>
              <a:t>₹2.50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5989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Per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5532120"/>
            <a:ext cx="246888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559612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1A1A1A"/>
                </a:solidFill>
              </a:rPr>
              <a:t>0.36 m²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5989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Footprint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78824" y="5532120"/>
            <a:ext cx="246888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15984" y="559612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1A1A1A"/>
                </a:solidFill>
              </a:rPr>
              <a:t>🔒 Secure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984" y="5989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Zero Data Retention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121916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A57319"/>
                </a:solidFill>
                <a:latin typeface="Calibri"/>
              </a:rPr>
              <a:t>U N D E R   T H E   H O O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21792"/>
            <a:ext cx="121916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Calibri"/>
              </a:rPr>
              <a:t>Engineering That No Competitor Has.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30352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484632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A57319"/>
                </a:solidFill>
                <a:latin typeface="Calibri"/>
              </a:rPr>
              <a:t>⚡  EXPRESS LANE SCHEDULER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1A1A1A"/>
                </a:solidFill>
                <a:latin typeface="Calibri"/>
              </a:rPr>
              <a:t>Small jobs never wait.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A5055"/>
                </a:solidFill>
                <a:latin typeface="Calibri"/>
              </a:rPr>
              <a:t>• Bulk jobs split into 5-page micro-chunks.
• Between chunks, express jobs (&lt; 5 pages) jump in.
100-page job running. 2-page job arrives:
[Chunk 1-5] → PAUSE → [2-pg Express] → RESUME [6-10]...
</a:t>
            </a:r>
          </a:p>
          <a:p>
            <a:r>
              <a:rPr sz="1050" b="1">
                <a:solidFill>
                  <a:srgbClr val="059669"/>
                </a:solidFill>
                <a:latin typeface="Calibri"/>
              </a:rPr>
              <a:t>Student B waits 15 sec, not 8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12064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41732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A57319"/>
                </a:solidFill>
                <a:latin typeface="Calibri"/>
              </a:rPr>
              <a:t>🔋  3-TIER SMART POWER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1A1A1A"/>
                </a:solidFill>
                <a:latin typeface="Calibri"/>
              </a:rPr>
              <a:t>71% energy savings via PIR.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148840"/>
            <a:ext cx="1371600" cy="347472"/>
          </a:xfrm>
          <a:prstGeom prst="roundRect">
            <a:avLst>
              <a:gd name="adj" fmla="val 20000"/>
            </a:avLst>
          </a:prstGeom>
          <a:solidFill>
            <a:srgbClr val="F8F6F0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A1A1A"/>
                </a:solidFill>
                <a:latin typeface="Calibri"/>
              </a:rPr>
              <a:t>3 min idle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4A5055"/>
                </a:solidFill>
                <a:latin typeface="Calibri"/>
              </a:rPr>
              <a:t>Display dims, printer standby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219456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Calibri"/>
              </a:rPr>
              <a:t>22W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633472"/>
            <a:ext cx="1371600" cy="347472"/>
          </a:xfrm>
          <a:prstGeom prst="roundRect">
            <a:avLst>
              <a:gd name="adj" fmla="val 20000"/>
            </a:avLst>
          </a:prstGeom>
          <a:solidFill>
            <a:srgbClr val="F8F6F0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679191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A1A1A"/>
                </a:solidFill>
                <a:latin typeface="Calibri"/>
              </a:rPr>
              <a:t>15 min idle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679191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4A5055"/>
                </a:solidFill>
                <a:latin typeface="Calibri"/>
              </a:rPr>
              <a:t>Display OFF, deep sleep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2679191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Calibri"/>
              </a:rPr>
              <a:t>4W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118104"/>
            <a:ext cx="1371600" cy="347472"/>
          </a:xfrm>
          <a:prstGeom prst="roundRect">
            <a:avLst>
              <a:gd name="adj" fmla="val 20000"/>
            </a:avLst>
          </a:prstGeom>
          <a:solidFill>
            <a:srgbClr val="F8F6F0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163824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A1A1A"/>
                </a:solidFill>
                <a:latin typeface="Calibri"/>
              </a:rPr>
              <a:t>2–6 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163824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4A5055"/>
                </a:solidFill>
                <a:latin typeface="Calibri"/>
              </a:rPr>
              <a:t>Night mode, relay cuts power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316382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59669"/>
                </a:solidFill>
                <a:latin typeface="Calibri"/>
              </a:rPr>
              <a:t>1.5W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338328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23360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57319"/>
                </a:solidFill>
                <a:latin typeface="Calibri"/>
              </a:rPr>
              <a:t>🔒  DPDP-COMPLIANT SECURITY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A1A1A"/>
                </a:solidFill>
                <a:latin typeface="Calibri"/>
              </a:rPr>
              <a:t>Volatile RAM Buffer (tmpfs)
</a:t>
            </a:r>
            <a:r>
              <a:rPr sz="850">
                <a:solidFill>
                  <a:srgbClr val="4A5055"/>
                </a:solidFill>
                <a:latin typeface="Calibri"/>
              </a:rPr>
              <a:t>Files live in RAM only — never touch disk.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A1A1A"/>
                </a:solidFill>
                <a:latin typeface="Calibri"/>
              </a:rPr>
              <a:t>Post-Print Auto-Delete
</a:t>
            </a:r>
            <a:r>
              <a:rPr sz="850">
                <a:solidFill>
                  <a:srgbClr val="4A5055"/>
                </a:solidFill>
                <a:latin typeface="Calibri"/>
              </a:rPr>
              <a:t>Removed the instant CUPS says done.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A1A1A"/>
                </a:solidFill>
                <a:latin typeface="Calibri"/>
              </a:rPr>
              <a:t>TLS 1.3 In-Transit
</a:t>
            </a:r>
            <a:r>
              <a:rPr sz="850">
                <a:solidFill>
                  <a:srgbClr val="4A5055"/>
                </a:solidFill>
                <a:latin typeface="Calibri"/>
              </a:rPr>
              <a:t>End-to-end encrypted file transfer.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A1A1A"/>
                </a:solidFill>
                <a:latin typeface="Calibri"/>
              </a:rPr>
              <a:t>OTP Rate-Limited
</a:t>
            </a:r>
            <a:r>
              <a:rPr sz="850">
                <a:solidFill>
                  <a:srgbClr val="4A5055"/>
                </a:solidFill>
                <a:latin typeface="Calibri"/>
              </a:rPr>
              <a:t>3 attempts/min. 2-hour auto-expiry.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931920"/>
            <a:ext cx="35661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023360"/>
            <a:ext cx="32004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57319"/>
                </a:solidFill>
                <a:latin typeface="Calibri"/>
              </a:rPr>
              <a:t>🏫  CAMPUS ERP INTEGRATION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A1A1A"/>
                </a:solidFill>
                <a:latin typeface="Calibri"/>
              </a:rPr>
              <a:t>1-Tap Exam Hall Tickets
</a:t>
            </a:r>
            <a:r>
              <a:rPr sz="850">
                <a:solidFill>
                  <a:srgbClr val="4A5055"/>
                </a:solidFill>
                <a:latin typeface="Calibri"/>
              </a:rPr>
              <a:t>Print admit cards with security watermark.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A1A1A"/>
                </a:solidFill>
                <a:latin typeface="Calibri"/>
              </a:rPr>
              <a:t>Grade Cards &amp; Certificates
</a:t>
            </a:r>
            <a:r>
              <a:rPr sz="850">
                <a:solidFill>
                  <a:srgbClr val="4A5055"/>
                </a:solidFill>
                <a:latin typeface="Calibri"/>
              </a:rPr>
              <a:t>Semester reports, fee receipts, attendance.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A1A1A"/>
                </a:solidFill>
                <a:latin typeface="Calibri"/>
              </a:rPr>
              <a:t>Secure Session Bridge
</a:t>
            </a:r>
            <a:r>
              <a:rPr sz="850">
                <a:solidFill>
                  <a:srgbClr val="4A5055"/>
                </a:solidFill>
                <a:latin typeface="Calibri"/>
              </a:rPr>
              <a:t>Student authenticates via Reg No + OTP.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A1A1A"/>
                </a:solidFill>
                <a:latin typeface="Calibri"/>
              </a:rPr>
              <a:t>Zero Credential Exposure
</a:t>
            </a:r>
            <a:r>
              <a:rPr sz="850">
                <a:solidFill>
                  <a:srgbClr val="4A5055"/>
                </a:solidFill>
                <a:latin typeface="Calibri"/>
              </a:rPr>
              <a:t>ERP tokens never reach kiosk frontend.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931920"/>
            <a:ext cx="329184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023360"/>
            <a:ext cx="29260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57319"/>
                </a:solidFill>
                <a:latin typeface="Calibri"/>
              </a:rPr>
              <a:t>🛠️  TECH STACK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6E747A"/>
                </a:solidFill>
                <a:latin typeface="Calibri"/>
              </a:rPr>
              <a:t>Frontend      </a:t>
            </a:r>
            <a:r>
              <a:rPr sz="850" b="1">
                <a:solidFill>
                  <a:srgbClr val="1A1A1A"/>
                </a:solidFill>
                <a:latin typeface="Calibri"/>
              </a:rPr>
              <a:t>Chromium Kiosk PWA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6E747A"/>
                </a:solidFill>
                <a:latin typeface="Calibri"/>
              </a:rPr>
              <a:t>Backend       </a:t>
            </a:r>
            <a:r>
              <a:rPr sz="850" b="1">
                <a:solidFill>
                  <a:srgbClr val="1A1A1A"/>
                </a:solidFill>
                <a:latin typeface="Calibri"/>
              </a:rPr>
              <a:t>Python + FastAPI (async)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6E747A"/>
                </a:solidFill>
                <a:latin typeface="Calibri"/>
              </a:rPr>
              <a:t>Print Engine  </a:t>
            </a:r>
            <a:r>
              <a:rPr sz="850" b="1">
                <a:solidFill>
                  <a:srgbClr val="1A1A1A"/>
                </a:solidFill>
                <a:latin typeface="Calibri"/>
              </a:rPr>
              <a:t>CUPS on Linux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6E747A"/>
                </a:solidFill>
                <a:latin typeface="Calibri"/>
              </a:rPr>
              <a:t>Bot           </a:t>
            </a:r>
            <a:r>
              <a:rPr sz="850" b="1">
                <a:solidFill>
                  <a:srgbClr val="1A1A1A"/>
                </a:solidFill>
                <a:latin typeface="Calibri"/>
              </a:rPr>
              <a:t>python-telegram-bot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6E747A"/>
                </a:solidFill>
                <a:latin typeface="Calibri"/>
              </a:rPr>
              <a:t>Database      </a:t>
            </a:r>
            <a:r>
              <a:rPr sz="850" b="1">
                <a:solidFill>
                  <a:srgbClr val="1A1A1A"/>
                </a:solidFill>
                <a:latin typeface="Calibri"/>
              </a:rPr>
              <a:t>SQLite (jobs, logs)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6E747A"/>
                </a:solidFill>
                <a:latin typeface="Calibri"/>
              </a:rPr>
              <a:t>Payments      </a:t>
            </a:r>
            <a:r>
              <a:rPr sz="850" b="1">
                <a:solidFill>
                  <a:srgbClr val="1A1A1A"/>
                </a:solidFill>
                <a:latin typeface="Calibri"/>
              </a:rPr>
              <a:t>Razorpay / UPI QR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6E747A"/>
                </a:solidFill>
                <a:latin typeface="Calibri"/>
              </a:rPr>
              <a:t>Hardware      </a:t>
            </a:r>
            <a:r>
              <a:rPr sz="850" b="1">
                <a:solidFill>
                  <a:srgbClr val="1A1A1A"/>
                </a:solidFill>
                <a:latin typeface="Calibri"/>
              </a:rPr>
              <a:t>Raspberry Pi 5 / 4B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6E747A"/>
                </a:solidFill>
                <a:latin typeface="Calibri"/>
              </a:rPr>
              <a:t>CAD           </a:t>
            </a:r>
            <a:r>
              <a:rPr sz="850" b="1">
                <a:solidFill>
                  <a:srgbClr val="1A1A1A"/>
                </a:solidFill>
                <a:latin typeface="Calibri"/>
              </a:rPr>
              <a:t>OpenSCAD (parametric)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A57319"/>
                </a:solidFill>
              </a:rPr>
              <a:t>W O R K F L O 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943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1A1A1A"/>
                </a:solidFill>
              </a:rPr>
              <a:t>Scan.  Upload.  Pay.  Print.</a:t>
            </a:r>
          </a:p>
        </p:txBody>
      </p:sp>
      <p:pic>
        <p:nvPicPr>
          <p:cNvPr id="5" name="Picture 4" descr="temp_img_3_Pictur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53492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Under 60 seconds.  No app download.  No clerk.  No queue.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5806440"/>
            <a:ext cx="2651760" cy="77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5852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QR + Web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6172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No app install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5806440"/>
            <a:ext cx="2651760" cy="77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5852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Telegram / WhatsApp 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6172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Send doc → get PIN → print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A57319"/>
                </a:solidFill>
              </a:rPr>
              <a:t>U N I T   E C O N O M I C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A1A1A"/>
                </a:solidFill>
              </a:rPr>
              <a:t>The Numbers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572000" cy="3520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A57319"/>
                </a:solidFill>
              </a:rPr>
              <a:t>COST BREAKDOWN PER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4A5055"/>
                </a:solidFill>
              </a:rPr>
              <a:t>🟢 Paper (75 GSM)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874519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>
                <a:solidFill>
                  <a:srgbClr val="4A5055"/>
                </a:solidFill>
              </a:rPr>
              <a:t>₹0.52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7451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>
                <a:solidFill>
                  <a:srgbClr val="4A5055"/>
                </a:solidFill>
              </a:rPr>
              <a:t>43%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58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4A5055"/>
                </a:solidFill>
              </a:rPr>
              <a:t>🟡 Toner Cartridge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25856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>
                <a:solidFill>
                  <a:srgbClr val="4A5055"/>
                </a:solidFill>
              </a:rPr>
              <a:t>₹0.25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585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>
                <a:solidFill>
                  <a:srgbClr val="4A5055"/>
                </a:solidFill>
              </a:rPr>
              <a:t>21%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4261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4A5055"/>
                </a:solidFill>
              </a:rPr>
              <a:t>🟠 Drum Amortization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42615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>
                <a:solidFill>
                  <a:srgbClr val="4A5055"/>
                </a:solidFill>
              </a:rPr>
              <a:t>₹0.10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42615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>
                <a:solidFill>
                  <a:srgbClr val="4A5055"/>
                </a:solidFill>
              </a:rPr>
              <a:t>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02666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4A5055"/>
                </a:solidFill>
              </a:rPr>
              <a:t>🔵 Electricity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026663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>
                <a:solidFill>
                  <a:srgbClr val="4A5055"/>
                </a:solidFill>
              </a:rPr>
              <a:t>₹0.03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26663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>
                <a:solidFill>
                  <a:srgbClr val="4A5055"/>
                </a:solidFill>
              </a:rPr>
              <a:t>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41071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4A5055"/>
                </a:solidFill>
              </a:rPr>
              <a:t>🟤 Jam/Misprint Buffer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410711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>
                <a:solidFill>
                  <a:srgbClr val="4A5055"/>
                </a:solidFill>
              </a:rPr>
              <a:t>₹0.05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1071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>
                <a:solidFill>
                  <a:srgbClr val="4A5055"/>
                </a:solidFill>
              </a:rPr>
              <a:t>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4A5055"/>
                </a:solidFill>
              </a:rPr>
              <a:t>🔴 Campus Floor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7947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>
                <a:solidFill>
                  <a:srgbClr val="4A5055"/>
                </a:solidFill>
              </a:rPr>
              <a:t>₹0.25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7947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>
                <a:solidFill>
                  <a:srgbClr val="4A5055"/>
                </a:solidFill>
              </a:rPr>
              <a:t>21%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206240"/>
            <a:ext cx="4114800" cy="27432"/>
          </a:xfrm>
          <a:prstGeom prst="roundRect">
            <a:avLst>
              <a:gd name="adj" fmla="val 16667"/>
            </a:avLst>
          </a:prstGeom>
          <a:solidFill>
            <a:srgbClr val="E4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4A5055"/>
                </a:solidFill>
              </a:rPr>
              <a:t>Total Production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>
                <a:solidFill>
                  <a:srgbClr val="4A5055"/>
                </a:solidFill>
              </a:rPr>
              <a:t>₹1.20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1417320"/>
            <a:ext cx="576072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1554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17830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₹1.20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1554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SELL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17830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1A1A1A"/>
                </a:solidFill>
              </a:rPr>
              <a:t>₹2.50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1554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PROFIT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17830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059669"/>
                </a:solidFill>
              </a:rPr>
              <a:t>₹1.30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=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59669"/>
                </a:solidFill>
              </a:rPr>
              <a:t>52% Gross Margin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>
                <a:solidFill>
                  <a:srgbClr val="4A5055"/>
                </a:solidFill>
              </a:rPr>
              <a:t>CAPEX: ₹48,400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0" y="3474720"/>
            <a:ext cx="5760720" cy="3246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3566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A57319"/>
                </a:solidFill>
              </a:rPr>
              <a:t>MONTHLY PROFIT &amp; PAYBACK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97763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4A5055"/>
                </a:solidFill>
              </a:rPr>
              <a:t>Conservative  ·  150 pages/day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97763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>
                <a:solidFill>
                  <a:srgbClr val="4A5055"/>
                </a:solidFill>
              </a:rPr>
              <a:t>₹4,875/mo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0" y="4251959"/>
            <a:ext cx="5303520" cy="182880"/>
          </a:xfrm>
          <a:prstGeom prst="roundRect">
            <a:avLst>
              <a:gd name="adj" fmla="val 16667"/>
            </a:avLst>
          </a:prstGeom>
          <a:solidFill>
            <a:srgbClr val="EE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0" y="4251959"/>
            <a:ext cx="1113739" cy="182880"/>
          </a:xfrm>
          <a:prstGeom prst="roundRect">
            <a:avLst>
              <a:gd name="adj" fmla="val 16667"/>
            </a:avLst>
          </a:prstGeom>
          <a:solidFill>
            <a:srgbClr val="1B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4480559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59669"/>
                </a:solidFill>
              </a:rPr>
              <a:t>Payback: ~10.5 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4892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4A5055"/>
                </a:solidFill>
              </a:rPr>
              <a:t>Realistic  ·  350 pages/day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059669"/>
                </a:solidFill>
              </a:rPr>
              <a:t>₹11,375/mo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5166359"/>
            <a:ext cx="5303520" cy="182880"/>
          </a:xfrm>
          <a:prstGeom prst="roundRect">
            <a:avLst>
              <a:gd name="adj" fmla="val 16667"/>
            </a:avLst>
          </a:prstGeom>
          <a:solidFill>
            <a:srgbClr val="EE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0" y="5166359"/>
            <a:ext cx="2651760" cy="182880"/>
          </a:xfrm>
          <a:prstGeom prst="roundRect">
            <a:avLst>
              <a:gd name="adj" fmla="val 16667"/>
            </a:avLst>
          </a:prstGeom>
          <a:solidFill>
            <a:srgbClr val="2AE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0" y="5394959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59669"/>
                </a:solidFill>
              </a:rPr>
              <a:t>Payback: ~4.2 months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5806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4A5055"/>
                </a:solidFill>
              </a:rPr>
              <a:t>Peak Season  ·  700 pages/day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5806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059669"/>
                </a:solidFill>
              </a:rPr>
              <a:t>₹22,750/mo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3600" y="6080759"/>
            <a:ext cx="5303520" cy="182880"/>
          </a:xfrm>
          <a:prstGeom prst="roundRect">
            <a:avLst>
              <a:gd name="adj" fmla="val 16667"/>
            </a:avLst>
          </a:prstGeom>
          <a:solidFill>
            <a:srgbClr val="EE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943600" y="6080759"/>
            <a:ext cx="5303520" cy="182880"/>
          </a:xfrm>
          <a:prstGeom prst="roundRect">
            <a:avLst>
              <a:gd name="adj" fmla="val 16667"/>
            </a:avLst>
          </a:prstGeom>
          <a:solidFill>
            <a:srgbClr val="5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0" y="6309359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59669"/>
                </a:solidFill>
              </a:rPr>
              <a:t>Payback: ~2.1 months 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A57319"/>
                </a:solidFill>
              </a:rPr>
              <a:t>C O M P E T I T I V E   E D G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A1A1A"/>
                </a:solidFill>
              </a:rPr>
              <a:t>70% Lower.  100% Yours.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4A5055"/>
                </a:solidFill>
              </a:rPr>
              <a:t>Qwikprint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>
                <a:solidFill>
                  <a:srgbClr val="4A5055"/>
                </a:solidFill>
              </a:rPr>
              <a:t>₹3.49 Lakh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698480" cy="347472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01368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Proprietary · Revenue Cut · No Campus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4A5055"/>
                </a:solidFill>
              </a:rPr>
              <a:t>Qwikprint 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>
                <a:solidFill>
                  <a:srgbClr val="4A5055"/>
                </a:solidFill>
              </a:rPr>
              <a:t>₹1.65 Lakh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5028285" cy="347472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44368"/>
            <a:ext cx="46625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Limited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A1A1A"/>
                </a:solidFill>
              </a:rPr>
              <a:t>★  Bittu Xerox Kiosk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1A1A1A"/>
                </a:solidFill>
              </a:rPr>
              <a:t>₹50,000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79"/>
            <a:ext cx="1497787" cy="347472"/>
          </a:xfrm>
          <a:prstGeom prst="roundRect">
            <a:avLst>
              <a:gd name="adj" fmla="val 16667"/>
            </a:avLst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709160"/>
            <a:ext cx="338328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731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💰  100% Profit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20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No royalty splits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709160"/>
            <a:ext cx="338328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7731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🔓  Open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5120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Python + FastAPI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709160"/>
            <a:ext cx="338328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47731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🎓  Campus-Native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5120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ERP + Telegram 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150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A57319"/>
                </a:solidFill>
              </a:rPr>
              <a:t>FULL 3D CAD  ·  ENGINEERED &amp; MODELED</a:t>
            </a:r>
          </a:p>
        </p:txBody>
      </p:sp>
      <p:pic>
        <p:nvPicPr>
          <p:cNvPr id="26" name="Picture 25" descr="temp_img_5_Picture 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97880"/>
            <a:ext cx="2606040" cy="822960"/>
          </a:xfrm>
          <a:prstGeom prst="rect">
            <a:avLst/>
          </a:prstGeom>
        </p:spPr>
      </p:pic>
      <p:pic>
        <p:nvPicPr>
          <p:cNvPr id="27" name="Picture 26" descr="temp_img_5_Picture 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39" y="5897880"/>
            <a:ext cx="2606040" cy="822960"/>
          </a:xfrm>
          <a:prstGeom prst="rect">
            <a:avLst/>
          </a:prstGeom>
        </p:spPr>
      </p:pic>
      <p:pic>
        <p:nvPicPr>
          <p:cNvPr id="28" name="Picture 27" descr="temp_img_5_Picture 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59" y="5897880"/>
            <a:ext cx="2606040" cy="822960"/>
          </a:xfrm>
          <a:prstGeom prst="rect">
            <a:avLst/>
          </a:prstGeom>
        </p:spPr>
      </p:pic>
      <p:pic>
        <p:nvPicPr>
          <p:cNvPr id="29" name="Picture 28" descr="temp_img_5_Picture 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5897880"/>
            <a:ext cx="260604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A57319"/>
                </a:solidFill>
              </a:rPr>
              <a:t>T H E   A S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82296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1A1A1A"/>
                </a:solidFill>
              </a:rPr>
              <a:t>Let’s Build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3108960" cy="201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011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1A1A1A"/>
                </a:solidFill>
              </a:rPr>
              <a:t>₹1 Lakh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517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Seed Grant</a:t>
            </a:r>
          </a:p>
          <a:p>
            <a:pPr algn="ctr"/>
            <a:r>
              <a:rPr>
                <a:solidFill>
                  <a:srgbClr val="4A5055"/>
                </a:solidFill>
              </a:rPr>
              <a:t>for 2 Pilot Kiosks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828800"/>
            <a:ext cx="3108960" cy="201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2011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1A1A1A"/>
                </a:solidFill>
              </a:rPr>
              <a:t>0.36 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651760"/>
            <a:ext cx="25603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Lobby Space</a:t>
            </a:r>
          </a:p>
          <a:p>
            <a:pPr algn="ctr"/>
            <a:r>
              <a:rPr>
                <a:solidFill>
                  <a:srgbClr val="4A5055"/>
                </a:solidFill>
              </a:rPr>
              <a:t>+ 1 Power Socket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828800"/>
            <a:ext cx="3108960" cy="201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011680"/>
            <a:ext cx="2560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~</a:t>
            </a:r>
            <a:r>
              <a:rPr b="1">
                <a:solidFill>
                  <a:srgbClr val="1A1A1A"/>
                </a:solidFill>
              </a:rPr>
              <a:t>30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6517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To Deliver</a:t>
            </a:r>
          </a:p>
          <a:p>
            <a:pPr algn="ctr"/>
            <a:r>
              <a:rPr>
                <a:solidFill>
                  <a:srgbClr val="4A5055"/>
                </a:solidFill>
              </a:rPr>
              <a:t>Working 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206240"/>
            <a:ext cx="8503920" cy="1188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4343400"/>
            <a:ext cx="79552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Start with 1 kiosk at KLU.  Scale to </a:t>
            </a:r>
            <a:r>
              <a:rPr>
                <a:solidFill>
                  <a:srgbClr val="4A5055"/>
                </a:solidFill>
              </a:rPr>
              <a:t>~50</a:t>
            </a:r>
            <a:r>
              <a:rPr>
                <a:solidFill>
                  <a:srgbClr val="4A5055"/>
                </a:solidFill>
              </a:rPr>
              <a:t> campuses across AP &amp; Telangana.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80060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Every exam season without a kiosk = 2,00,000+ pages of unserved demand.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5669280"/>
            <a:ext cx="2103120" cy="36576"/>
          </a:xfrm>
          <a:prstGeom prst="roundRect">
            <a:avLst>
              <a:gd name="adj" fmla="val 16667"/>
            </a:avLst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585216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Bittu Xerox Kiosk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1722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4A5055"/>
                </a:solidFill>
              </a:rPr>
              <a:t>Zero Queues  ·  Zero Leakage  ·  24/7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