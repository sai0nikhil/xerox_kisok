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0728655" cy="5577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005840"/>
            <a:ext cx="99056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Calibri"/>
              </a:defRPr>
            </a:pPr>
            <a:r>
              <a:t>CAMPUS INCUBATION &amp; STUDENT INNOVATION CELL · KL UNIVERSITY</a:t>
            </a:r>
          </a:p>
          <a:p>
            <a:pPr>
              <a:spcBef>
                <a:spcPts val="800"/>
              </a:spcBef>
              <a:defRPr sz="4000" b="1">
                <a:solidFill>
                  <a:srgbClr val="0F172A"/>
                </a:solidFill>
                <a:latin typeface="Calibri"/>
              </a:defRPr>
            </a:pPr>
            <a:r>
              <a:t>Bittu Xerox Kiosk</a:t>
            </a:r>
          </a:p>
          <a:p>
            <a:pPr>
              <a:spcBef>
                <a:spcPts val="600"/>
              </a:spcBef>
              <a:defRPr sz="1500">
                <a:solidFill>
                  <a:srgbClr val="64748B"/>
                </a:solidFill>
                <a:latin typeface="Calibri"/>
              </a:defRPr>
            </a:pPr>
            <a:r>
              <a:t>24/7 Autonomous Smart Document Station for University Hostels &amp; Campus Blocks</a:t>
            </a:r>
          </a:p>
          <a:p>
            <a:pPr>
              <a:spcBef>
                <a:spcPts val="21000"/>
              </a:spcBef>
              <a:defRPr sz="1100" b="1">
                <a:solidFill>
                  <a:srgbClr val="0F172A"/>
                </a:solidFill>
                <a:latin typeface="Calibri"/>
              </a:defRPr>
            </a:pPr>
            <a:r>
              <a:t>Founder &amp; Hardware Lead: Sai Nikhil Vukka | Department of Computer Science &amp;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3291840"/>
            <a:ext cx="2304288" cy="16916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07592" y="3456432"/>
            <a:ext cx="1975104" cy="1362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563EB"/>
                </a:solidFill>
                <a:latin typeface="Calibri"/>
              </a:defRPr>
            </a:pPr>
            <a:r>
              <a:t>₹48,420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  <a:latin typeface="Calibri"/>
              </a:defRPr>
            </a:pPr>
            <a:r>
              <a:t>Total CAPEX BOM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75% cheaper than commercial vendor kiosks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93592" y="3291840"/>
            <a:ext cx="2304288" cy="16916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58184" y="3456432"/>
            <a:ext cx="1975104" cy="1362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4F46E5"/>
                </a:solidFill>
                <a:latin typeface="Calibri"/>
              </a:defRPr>
            </a:pPr>
            <a:r>
              <a:t>0.36 m²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  <a:latin typeface="Calibri"/>
              </a:defRPr>
            </a:pPr>
            <a:r>
              <a:t>Micro Footprint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Fits directly in hostel &amp; academic corridors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44184" y="3291840"/>
            <a:ext cx="2304288" cy="16916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8776" y="3456432"/>
            <a:ext cx="1975104" cy="1362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59669"/>
                </a:solidFill>
                <a:latin typeface="Calibri"/>
              </a:defRPr>
            </a:pPr>
            <a:r>
              <a:t>100% UPI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  <a:latin typeface="Calibri"/>
              </a:defRPr>
            </a:pPr>
            <a:r>
              <a:t>Zero-Clerk Flow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Dynamic QR &amp; OTP PIN instant checkout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94776" y="3291840"/>
            <a:ext cx="2304288" cy="16916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9368" y="3456432"/>
            <a:ext cx="1975104" cy="1362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563EB"/>
                </a:solidFill>
                <a:latin typeface="Calibri"/>
              </a:defRPr>
            </a:pPr>
            <a:r>
              <a:t>100% RAM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  <a:latin typeface="Calibri"/>
              </a:defRPr>
            </a:pPr>
            <a:r>
              <a:t>Zero-Clerk Privacy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Ephemeral Linux spooling with auto-shred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01 · CAMPUS PROBLEM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The Midnight Printing Bottleneck Across Indian University Campuses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15,000+ students face daily friction, curfew lockouts, and critical data privacy vulnerabilities.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56432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901952"/>
            <a:ext cx="2944368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5:30 PM CURFEW LOCKOUT</a:t>
            </a:r>
          </a:p>
          <a:p>
            <a:pPr>
              <a:spcBef>
                <a:spcPts val="500"/>
              </a:spcBef>
              <a:defRPr sz="1400" b="1">
                <a:solidFill>
                  <a:srgbClr val="0F172A"/>
                </a:solidFill>
              </a:defRPr>
            </a:pPr>
            <a:r>
              <a:t>Late-Night Document Deserts</a:t>
            </a:r>
          </a:p>
          <a:p>
            <a:pPr>
              <a:spcBef>
                <a:spcPts val="1200"/>
              </a:spcBef>
              <a:defRPr sz="1000">
                <a:solidFill>
                  <a:srgbClr val="475569"/>
                </a:solidFill>
              </a:defRPr>
            </a:pPr>
            <a:r>
              <a:t>• Campus stationery shops strictly close by 5:30 PM.</a:t>
            </a:r>
            <a:br/>
            <a:r>
              <a:t>• Hostel students working on midnight assignments, lab records, and exam prep have zero printing access.</a:t>
            </a:r>
            <a:br/>
            <a:r>
              <a:t>• Forces risky off-campus travel or last-minute morning panics.</a:t>
            </a:r>
          </a:p>
          <a:p>
            <a:pPr>
              <a:spcBef>
                <a:spcPts val="2200"/>
              </a:spcBef>
              <a:defRPr sz="1000" b="1">
                <a:solidFill>
                  <a:srgbClr val="DC2626"/>
                </a:solidFill>
              </a:defRPr>
            </a:pPr>
            <a:r>
              <a:t>Impact: 0 Available Options after 8 PM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56432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26864" y="1901952"/>
            <a:ext cx="2944368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30-45 MIN MORNING QUEUES</a:t>
            </a:r>
          </a:p>
          <a:p>
            <a:pPr>
              <a:spcBef>
                <a:spcPts val="500"/>
              </a:spcBef>
              <a:defRPr sz="1400" b="1">
                <a:solidFill>
                  <a:srgbClr val="0F172A"/>
                </a:solidFill>
              </a:defRPr>
            </a:pPr>
            <a:r>
              <a:t>Peak Submission Bottlenecks</a:t>
            </a:r>
          </a:p>
          <a:p>
            <a:pPr>
              <a:spcBef>
                <a:spcPts val="1200"/>
              </a:spcBef>
              <a:defRPr sz="1000">
                <a:solidFill>
                  <a:srgbClr val="475569"/>
                </a:solidFill>
              </a:defRPr>
            </a:pPr>
            <a:r>
              <a:t>• 8:00 AM - 9:00 AM submission rush overwhelms manual operators.</a:t>
            </a:r>
            <a:br/>
            <a:r>
              <a:t>• Students miss morning lectures waiting for 2-page printouts.</a:t>
            </a:r>
            <a:br/>
            <a:r>
              <a:t>• Manual UPI verification and cash change slows every transaction.</a:t>
            </a:r>
          </a:p>
          <a:p>
            <a:pPr>
              <a:spcBef>
                <a:spcPts val="2200"/>
              </a:spcBef>
              <a:defRPr sz="1000" b="1">
                <a:solidFill>
                  <a:srgbClr val="DC2626"/>
                </a:solidFill>
              </a:defRPr>
            </a:pPr>
            <a:r>
              <a:t>Impact: 40+ Mins Average Peak Wait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45920"/>
            <a:ext cx="3456432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1901952"/>
            <a:ext cx="2944368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ZERO PRIVACY ON SHARED PCS</a:t>
            </a:r>
          </a:p>
          <a:p>
            <a:pPr>
              <a:spcBef>
                <a:spcPts val="500"/>
              </a:spcBef>
              <a:defRPr sz="1400" b="1">
                <a:solidFill>
                  <a:srgbClr val="0F172A"/>
                </a:solidFill>
              </a:defRPr>
            </a:pPr>
            <a:r>
              <a:t>Aadhaar &amp; Resume Data Leakage</a:t>
            </a:r>
          </a:p>
          <a:p>
            <a:pPr>
              <a:spcBef>
                <a:spcPts val="1200"/>
              </a:spcBef>
              <a:defRPr sz="1000">
                <a:solidFill>
                  <a:srgbClr val="475569"/>
                </a:solidFill>
              </a:defRPr>
            </a:pPr>
            <a:r>
              <a:t>• Documents sent via WhatsApp Web or opened on shared shop desktops.</a:t>
            </a:r>
            <a:br/>
            <a:r>
              <a:t>• Aadhaar, PAN, resumes, and medical certificates remain in 'Downloads' folders indefinitely.</a:t>
            </a:r>
            <a:br/>
            <a:r>
              <a:t>• Complete violation of student digital privacy &amp; DPDP guidelines.</a:t>
            </a:r>
          </a:p>
          <a:p>
            <a:pPr>
              <a:spcBef>
                <a:spcPts val="2200"/>
              </a:spcBef>
              <a:defRPr sz="1000" b="1">
                <a:solidFill>
                  <a:srgbClr val="DC2626"/>
                </a:solidFill>
              </a:defRPr>
            </a:pPr>
            <a:r>
              <a:t>Impact: 100% Unencrypted Shop Exposure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02 · SECURITY &amp; COMPLIANCE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Enterprise-Grade Document Security vs. Traditional Xerox Shops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Guaranteed end-to-end data privacy with ephemeral volatile RAM processing.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938528"/>
            <a:ext cx="4626864" cy="4078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TRADITIONAL CAMPUS XEROX SHOP</a:t>
            </a:r>
          </a:p>
          <a:p>
            <a:pPr>
              <a:spcBef>
                <a:spcPts val="500"/>
              </a:spcBef>
              <a:defRPr sz="1500" b="1">
                <a:solidFill>
                  <a:srgbClr val="0F172A"/>
                </a:solidFill>
              </a:defRPr>
            </a:pPr>
            <a:r>
              <a:t>High Privacy Risk &amp; Manual Exposure</a:t>
            </a:r>
          </a:p>
          <a:p>
            <a:pPr>
              <a:spcBef>
                <a:spcPts val="900"/>
              </a:spcBef>
              <a:defRPr sz="1000">
                <a:solidFill>
                  <a:srgbClr val="475569"/>
                </a:solidFill>
              </a:defRPr>
            </a:pPr>
            <a:r>
              <a:t>✕  Public WhatsApp Web login exposes personal chat previews and contacts.</a:t>
            </a:r>
          </a:p>
          <a:p>
            <a:pPr>
              <a:spcBef>
                <a:spcPts val="900"/>
              </a:spcBef>
              <a:defRPr sz="1000">
                <a:solidFill>
                  <a:srgbClr val="475569"/>
                </a:solidFill>
              </a:defRPr>
            </a:pPr>
            <a:r>
              <a:t>✕  Files downloaded to persistent HDD 'Downloads' folder and never purged.</a:t>
            </a:r>
          </a:p>
          <a:p>
            <a:pPr>
              <a:spcBef>
                <a:spcPts val="900"/>
              </a:spcBef>
              <a:defRPr sz="1000">
                <a:solidFill>
                  <a:srgbClr val="475569"/>
                </a:solidFill>
              </a:defRPr>
            </a:pPr>
            <a:r>
              <a:t>✕  Next student in queue or operator can easily browse sensitive personal files.</a:t>
            </a:r>
          </a:p>
          <a:p>
            <a:pPr>
              <a:spcBef>
                <a:spcPts val="900"/>
              </a:spcBef>
              <a:defRPr sz="1000">
                <a:solidFill>
                  <a:srgbClr val="475569"/>
                </a:solidFill>
              </a:defRPr>
            </a:pPr>
            <a:r>
              <a:t>✕  Identity theft risk: Government IDs, grade sheets, and bank forms left exposed.</a:t>
            </a:r>
          </a:p>
          <a:p>
            <a:pPr>
              <a:spcBef>
                <a:spcPts val="900"/>
              </a:spcBef>
              <a:defRPr sz="1000">
                <a:solidFill>
                  <a:srgbClr val="475569"/>
                </a:solidFill>
              </a:defRPr>
            </a:pPr>
            <a:r>
              <a:t>✕  Human operator bottleneck: 2-3 minutes spent per student just finding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645920"/>
            <a:ext cx="521208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40703" y="1938528"/>
            <a:ext cx="4626864" cy="4078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BITTU ZERO-CLERK KIOSK PIPELINE</a:t>
            </a:r>
          </a:p>
          <a:p>
            <a:pPr>
              <a:spcBef>
                <a:spcPts val="500"/>
              </a:spcBef>
              <a:defRPr sz="1500" b="1">
                <a:solidFill>
                  <a:srgbClr val="0F172A"/>
                </a:solidFill>
              </a:defRPr>
            </a:pPr>
            <a:r>
              <a:t>Direct Volatile RAM &amp; Instant Shredding</a:t>
            </a:r>
          </a:p>
          <a:p>
            <a:pPr>
              <a:spcBef>
                <a:spcPts val="900"/>
              </a:spcBef>
              <a:defRPr sz="1000" b="1">
                <a:solidFill>
                  <a:srgbClr val="0F172A"/>
                </a:solidFill>
              </a:defRPr>
            </a:pPr>
            <a:r>
              <a:t>✓  End-to-End TLS 1.3 encrypted direct upload from student's phone browser.</a:t>
            </a:r>
          </a:p>
          <a:p>
            <a:pPr>
              <a:spcBef>
                <a:spcPts val="900"/>
              </a:spcBef>
              <a:defRPr sz="1000" b="1">
                <a:solidFill>
                  <a:srgbClr val="0F172A"/>
                </a:solidFill>
              </a:defRPr>
            </a:pPr>
            <a:r>
              <a:t>✓  Stored exclusively in Linux tmpfs (RAM disk) — NEVER written to physical SD/SSD storage.</a:t>
            </a:r>
          </a:p>
          <a:p>
            <a:pPr>
              <a:spcBef>
                <a:spcPts val="900"/>
              </a:spcBef>
              <a:defRPr sz="1000" b="1">
                <a:solidFill>
                  <a:srgbClr val="0F172A"/>
                </a:solidFill>
              </a:defRPr>
            </a:pPr>
            <a:r>
              <a:t>✓  Rendered directly to CUPS laser engine; post-print Linux shred wipes memory blocks instantly.</a:t>
            </a:r>
          </a:p>
          <a:p>
            <a:pPr>
              <a:spcBef>
                <a:spcPts val="900"/>
              </a:spcBef>
              <a:defRPr sz="1000" b="1">
                <a:solidFill>
                  <a:srgbClr val="0F172A"/>
                </a:solidFill>
              </a:defRPr>
            </a:pPr>
            <a:r>
              <a:t>✓  Zero human intermediary: Operator never sees, opens, or stores student documents.</a:t>
            </a:r>
          </a:p>
          <a:p>
            <a:pPr>
              <a:spcBef>
                <a:spcPts val="900"/>
              </a:spcBef>
              <a:defRPr sz="1000" b="1">
                <a:solidFill>
                  <a:srgbClr val="0F172A"/>
                </a:solidFill>
              </a:defRPr>
            </a:pPr>
            <a:r>
              <a:t>✓  Compliant with Indian Digital Personal Data Protection (DPDP) standards.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03 · INDUSTRIAL ARCHITECTURE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Robust, Modular Hardware Station Built on 0.36 m²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Commercial-grade off-the-shelf (COTS) components engineered for 24/7 heavy-duty campus operation.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42032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847088"/>
            <a:ext cx="2139696" cy="4261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COMPUTE &amp; INTERFACE</a:t>
            </a:r>
          </a:p>
          <a:p>
            <a:pPr>
              <a:spcBef>
                <a:spcPts val="500"/>
              </a:spcBef>
              <a:defRPr sz="1200" b="1">
                <a:solidFill>
                  <a:srgbClr val="0F172A"/>
                </a:solidFill>
              </a:defRPr>
            </a:pPr>
            <a:r>
              <a:t>Raspberry Pi 4B (4GB) + 15.6" FHD Touch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</a:defRPr>
            </a:pPr>
            <a:r>
              <a:t>• Dedicated Linux CUPS print server &amp; telemetry agent.</a:t>
            </a:r>
            <a:br/>
            <a:r>
              <a:t>• 15.6" 1080p capacitive responsive touch display.</a:t>
            </a:r>
            <a:br/>
            <a:r>
              <a:t>• Multi-language UI (English, Telugu, Hindi).</a:t>
            </a:r>
          </a:p>
          <a:p>
            <a:pPr>
              <a:spcBef>
                <a:spcPts val="1400"/>
              </a:spcBef>
              <a:defRPr sz="1050" b="1">
                <a:solidFill>
                  <a:srgbClr val="2563EB"/>
                </a:solidFill>
              </a:defRPr>
            </a:pPr>
            <a:r>
              <a:t>Budget: ₹14,500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645920"/>
            <a:ext cx="2542032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47088"/>
            <a:ext cx="2139696" cy="4261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HEAVY-DUTY PRINT ENGINE</a:t>
            </a:r>
          </a:p>
          <a:p>
            <a:pPr>
              <a:spcBef>
                <a:spcPts val="500"/>
              </a:spcBef>
              <a:defRPr sz="1200" b="1">
                <a:solidFill>
                  <a:srgbClr val="0F172A"/>
                </a:solidFill>
              </a:defRPr>
            </a:pPr>
            <a:r>
              <a:t>Brother DCP-L2541DW Laser Printer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</a:defRPr>
            </a:pPr>
            <a:r>
              <a:t>• 30 PPM high-speed printing with auto-duplexing.</a:t>
            </a:r>
            <a:br/>
            <a:r>
              <a:t>• 2,600-page high-capacity toner cartridge (TN-2365).</a:t>
            </a:r>
            <a:br/>
            <a:r>
              <a:t>• 250-sheet enclosed anti-dust paper tray.</a:t>
            </a:r>
          </a:p>
          <a:p>
            <a:pPr>
              <a:spcBef>
                <a:spcPts val="1400"/>
              </a:spcBef>
              <a:defRPr sz="1050" b="1">
                <a:solidFill>
                  <a:srgbClr val="2563EB"/>
                </a:solidFill>
              </a:defRPr>
            </a:pPr>
            <a:r>
              <a:t>Budget: ₹18,500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42032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47088"/>
            <a:ext cx="2139696" cy="4261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HIGH-RES SCANNING BAY</a:t>
            </a:r>
          </a:p>
          <a:p>
            <a:pPr>
              <a:spcBef>
                <a:spcPts val="500"/>
              </a:spcBef>
              <a:defRPr sz="1200" b="1">
                <a:solidFill>
                  <a:srgbClr val="0F172A"/>
                </a:solidFill>
              </a:defRPr>
            </a:pPr>
            <a:r>
              <a:t>Canon CanoScan LiDE 300 Flatbed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</a:defRPr>
            </a:pPr>
            <a:r>
              <a:t>• 2400 x 2400 DPI optical scanning resolution.</a:t>
            </a:r>
            <a:br/>
            <a:r>
              <a:t>• Fast 10-sec A4 color scanning into PDF/JPEG.</a:t>
            </a:r>
            <a:br/>
            <a:r>
              <a:t>• Secure recessed drawer with mechanical lock.</a:t>
            </a:r>
          </a:p>
          <a:p>
            <a:pPr>
              <a:spcBef>
                <a:spcPts val="1400"/>
              </a:spcBef>
              <a:defRPr sz="1050" b="1">
                <a:solidFill>
                  <a:srgbClr val="2563EB"/>
                </a:solidFill>
              </a:defRPr>
            </a:pPr>
            <a:r>
              <a:t>Budget: ₹4,200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645920"/>
            <a:ext cx="2542032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07424" y="1847088"/>
            <a:ext cx="2139696" cy="4261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POWER &amp; ANTI-VANDAL CHASSIS</a:t>
            </a:r>
          </a:p>
          <a:p>
            <a:pPr>
              <a:spcBef>
                <a:spcPts val="500"/>
              </a:spcBef>
              <a:defRPr sz="1200" b="1">
                <a:solidFill>
                  <a:srgbClr val="0F172A"/>
                </a:solidFill>
              </a:defRPr>
            </a:pPr>
            <a:r>
              <a:t>600VA UPS + 1.2mm CRCA Steel Enclosure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</a:defRPr>
            </a:pPr>
            <a:r>
              <a:t>• 30-minute power backup prevents print-job aborts.</a:t>
            </a:r>
            <a:br/>
            <a:r>
              <a:t>• Dual 120mm PWM fans prevent thermal throttling.</a:t>
            </a:r>
            <a:br/>
            <a:r>
              <a:t>• Modbus RS485 energy meter + keyed access.</a:t>
            </a:r>
          </a:p>
          <a:p>
            <a:pPr>
              <a:spcBef>
                <a:spcPts val="1400"/>
              </a:spcBef>
              <a:defRPr sz="1050" b="1">
                <a:solidFill>
                  <a:srgbClr val="2563EB"/>
                </a:solidFill>
              </a:defRPr>
            </a:pPr>
            <a:r>
              <a:t>Budget: ₹11,220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04 · STUDENT WORKFLOW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Frictionless 4-Step Self-Service Flow in Under 45 Seconds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Intuitive mobile web app interface — No mandatory mobile app download required.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42032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847088"/>
            <a:ext cx="2139696" cy="4261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STEP 01</a:t>
            </a:r>
          </a:p>
          <a:p>
            <a:pPr>
              <a:spcBef>
                <a:spcPts val="500"/>
              </a:spcBef>
              <a:defRPr sz="1400" b="1">
                <a:solidFill>
                  <a:srgbClr val="0F172A"/>
                </a:solidFill>
              </a:defRPr>
            </a:pPr>
            <a:r>
              <a:t>Scan Dynamic QR</a:t>
            </a:r>
          </a:p>
          <a:p>
            <a:pPr>
              <a:spcBef>
                <a:spcPts val="1000"/>
              </a:spcBef>
              <a:defRPr sz="950">
                <a:solidFill>
                  <a:srgbClr val="475569"/>
                </a:solidFill>
              </a:defRPr>
            </a:pPr>
            <a:r>
              <a:t>Student scans the dynamic screen QR code using any smartphone camera or UPI app, instantly opening the mobile web uploader without app download.</a:t>
            </a:r>
          </a:p>
          <a:p>
            <a:pPr>
              <a:spcBef>
                <a:spcPts val="1800"/>
              </a:spcBef>
              <a:defRPr sz="1000" b="1">
                <a:solidFill>
                  <a:srgbClr val="059669"/>
                </a:solidFill>
              </a:defRPr>
            </a:pPr>
            <a:r>
              <a:t>Speed: &lt; 5 Seconds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645920"/>
            <a:ext cx="2542032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47088"/>
            <a:ext cx="2139696" cy="4261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STEP 02</a:t>
            </a:r>
          </a:p>
          <a:p>
            <a:pPr>
              <a:spcBef>
                <a:spcPts val="500"/>
              </a:spcBef>
              <a:defRPr sz="1400" b="1">
                <a:solidFill>
                  <a:srgbClr val="0F172A"/>
                </a:solidFill>
              </a:defRPr>
            </a:pPr>
            <a:r>
              <a:t>Upload &amp; Configure</a:t>
            </a:r>
          </a:p>
          <a:p>
            <a:pPr>
              <a:spcBef>
                <a:spcPts val="1000"/>
              </a:spcBef>
              <a:defRPr sz="950">
                <a:solidFill>
                  <a:srgbClr val="475569"/>
                </a:solidFill>
              </a:defRPr>
            </a:pPr>
            <a:r>
              <a:t>Uploads PDF, Word, or image directly via HTTPS. Selects color/B&amp;W, single or auto-duplex, and page ranges with real-time interactive preview.</a:t>
            </a:r>
          </a:p>
          <a:p>
            <a:pPr>
              <a:spcBef>
                <a:spcPts val="1800"/>
              </a:spcBef>
              <a:defRPr sz="1000" b="1">
                <a:solidFill>
                  <a:srgbClr val="059669"/>
                </a:solidFill>
              </a:defRPr>
            </a:pPr>
            <a:r>
              <a:t>Speed: &lt; 15 Seconds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42032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47088"/>
            <a:ext cx="2139696" cy="4261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STEP 03</a:t>
            </a:r>
          </a:p>
          <a:p>
            <a:pPr>
              <a:spcBef>
                <a:spcPts val="500"/>
              </a:spcBef>
              <a:defRPr sz="1400" b="1">
                <a:solidFill>
                  <a:srgbClr val="0F172A"/>
                </a:solidFill>
              </a:defRPr>
            </a:pPr>
            <a:r>
              <a:t>1-Tap UPI Pay</a:t>
            </a:r>
          </a:p>
          <a:p>
            <a:pPr>
              <a:spcBef>
                <a:spcPts val="1000"/>
              </a:spcBef>
              <a:defRPr sz="950">
                <a:solidFill>
                  <a:srgbClr val="475569"/>
                </a:solidFill>
              </a:defRPr>
            </a:pPr>
            <a:r>
              <a:t>Calculates exact fare. Student pays via GPay, PhonePe, or Paytm. Webhook verifies payment in 500ms and immediately unlocks the print job.</a:t>
            </a:r>
          </a:p>
          <a:p>
            <a:pPr>
              <a:spcBef>
                <a:spcPts val="1800"/>
              </a:spcBef>
              <a:defRPr sz="1000" b="1">
                <a:solidFill>
                  <a:srgbClr val="059669"/>
                </a:solidFill>
              </a:defRPr>
            </a:pPr>
            <a:r>
              <a:t>Speed: &lt; 10 Seconds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645920"/>
            <a:ext cx="2542032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07424" y="1847088"/>
            <a:ext cx="2139696" cy="4261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STEP 04</a:t>
            </a:r>
          </a:p>
          <a:p>
            <a:pPr>
              <a:spcBef>
                <a:spcPts val="500"/>
              </a:spcBef>
              <a:defRPr sz="1400" b="1">
                <a:solidFill>
                  <a:srgbClr val="0F172A"/>
                </a:solidFill>
              </a:defRPr>
            </a:pPr>
            <a:r>
              <a:t>Instant Print &amp; Shred</a:t>
            </a:r>
          </a:p>
          <a:p>
            <a:pPr>
              <a:spcBef>
                <a:spcPts val="1000"/>
              </a:spcBef>
              <a:defRPr sz="950">
                <a:solidFill>
                  <a:srgbClr val="475569"/>
                </a:solidFill>
              </a:defRPr>
            </a:pPr>
            <a:r>
              <a:t>Laser engine prints document into collection bin. Linux spooler immediately zeroes volatile RAM buffer. Student grabs fresh printout.</a:t>
            </a:r>
          </a:p>
          <a:p>
            <a:pPr>
              <a:spcBef>
                <a:spcPts val="1800"/>
              </a:spcBef>
              <a:defRPr sz="1000" b="1">
                <a:solidFill>
                  <a:srgbClr val="059669"/>
                </a:solidFill>
              </a:defRPr>
            </a:pPr>
            <a:r>
              <a:t>Speed: &lt; 12 Seconds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05 · SMART TELEMETRY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Industrial IoT Telemetry for 99.8% Unattended Uptime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Automated consumable tracking, predictive jam prevention, and remote energy auditing.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56432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901952"/>
            <a:ext cx="2944368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OPTICAL PAPER &amp; TONER SENSING</a:t>
            </a:r>
          </a:p>
          <a:p>
            <a:pPr>
              <a:spcBef>
                <a:spcPts val="500"/>
              </a:spcBef>
              <a:defRPr sz="1400" b="1">
                <a:solidFill>
                  <a:srgbClr val="0F172A"/>
                </a:solidFill>
              </a:defRPr>
            </a:pPr>
            <a:r>
              <a:t>Zero Stock-Out Guarantee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• Ultrasonic &amp; optical tray sensors measure paper depth in real-time.</a:t>
            </a:r>
            <a:br/>
            <a:r>
              <a:t>• Software page counters calculate precise toner life (TN-2365 cartridge).</a:t>
            </a:r>
            <a:br/>
            <a:r>
              <a:t>• Automated WhatsApp / SMS dispatch alerts campus hostel warden when stock hits 15%.</a:t>
            </a:r>
            <a:br/>
            <a:r>
              <a:t>• Ensures kiosk never accepts payment when out of consumables.</a:t>
            </a:r>
          </a:p>
          <a:p>
            <a:pPr>
              <a:spcBef>
                <a:spcPts val="1600"/>
              </a:spcBef>
              <a:defRPr sz="1000" b="1">
                <a:solidFill>
                  <a:srgbClr val="2563EB"/>
                </a:solidFill>
              </a:defRPr>
            </a:pPr>
            <a:r>
              <a:t>99.8% Uptime SLA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56432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26864" y="1901952"/>
            <a:ext cx="2944368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DUAL PWM THERMAL &amp; JAM CONTROL</a:t>
            </a:r>
          </a:p>
          <a:p>
            <a:pPr>
              <a:spcBef>
                <a:spcPts val="500"/>
              </a:spcBef>
              <a:defRPr sz="1400" b="1">
                <a:solidFill>
                  <a:srgbClr val="0F172A"/>
                </a:solidFill>
              </a:defRPr>
            </a:pPr>
            <a:r>
              <a:t>Smart Health &amp; Diagnostics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• Internal thermistors control dual 120mm exhaust fans dynamically to prevent heat buildup.</a:t>
            </a:r>
            <a:br/>
            <a:r>
              <a:t>• CUPS error interceptor halts queue on paper misfeed and auto-refunds UPI in 3 seconds.</a:t>
            </a:r>
            <a:br/>
            <a:r>
              <a:t>• Line-Interactive 600VA UPS buffers voltage spikes and allows clean job completion.</a:t>
            </a:r>
          </a:p>
          <a:p>
            <a:pPr>
              <a:spcBef>
                <a:spcPts val="1600"/>
              </a:spcBef>
              <a:defRPr sz="1000" b="1">
                <a:solidFill>
                  <a:srgbClr val="2563EB"/>
                </a:solidFill>
              </a:defRPr>
            </a:pPr>
            <a:r>
              <a:t>Auto 3-Sec UPI Refund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45920"/>
            <a:ext cx="3456432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1901952"/>
            <a:ext cx="2944368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CENTRALIZED MULTI-KIOSK FLEET</a:t>
            </a:r>
          </a:p>
          <a:p>
            <a:pPr>
              <a:spcBef>
                <a:spcPts val="500"/>
              </a:spcBef>
              <a:defRPr sz="1400" b="1">
                <a:solidFill>
                  <a:srgbClr val="0F172A"/>
                </a:solidFill>
              </a:defRPr>
            </a:pPr>
            <a:r>
              <a:t>Remote Cloud Monitoring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• Lightweight MQTT / WebSocket daemon sends heartbeat telemetry every 30 seconds.</a:t>
            </a:r>
            <a:br/>
            <a:r>
              <a:t>• Central dashboard tracks daily prints, paper consumption, and revenue per hostel block.</a:t>
            </a:r>
            <a:br/>
            <a:r>
              <a:t>• Secure SSH &amp; OTA firmware updates deployed remotely without opening the chassis.</a:t>
            </a:r>
          </a:p>
          <a:p>
            <a:pPr>
              <a:spcBef>
                <a:spcPts val="1600"/>
              </a:spcBef>
              <a:defRPr sz="1000" b="1">
                <a:solidFill>
                  <a:srgbClr val="2563EB"/>
                </a:solidFill>
              </a:defRPr>
            </a:pPr>
            <a:r>
              <a:t>Real-time Fleet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06 · UNIT ECONOMICS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Realistic Cost Structure (Strict, Non-Overestimated Pricing)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Sustainable unit economics based on verified Indian wholesale consumable prices.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40080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901952"/>
            <a:ext cx="581558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PER-PAGE COST &amp; REVENUE BREAKDOWN (A4 B&amp;W)</a:t>
            </a:r>
          </a:p>
          <a:p>
            <a:pPr>
              <a:spcBef>
                <a:spcPts val="600"/>
              </a:spcBef>
              <a:defRPr sz="1000" b="0">
                <a:solidFill>
                  <a:srgbClr val="475569"/>
                </a:solidFill>
              </a:defRPr>
            </a:pPr>
            <a:r>
              <a:t>75 GSM Premium A4 Paper (JK / Century ream ₹260/500 sheets):  ₹0.52</a:t>
            </a:r>
          </a:p>
          <a:p>
            <a:pPr>
              <a:spcBef>
                <a:spcPts val="600"/>
              </a:spcBef>
              <a:defRPr sz="1000" b="0">
                <a:solidFill>
                  <a:srgbClr val="475569"/>
                </a:solidFill>
              </a:defRPr>
            </a:pPr>
            <a:r>
              <a:t>High-Yield Compatible Toner (ProDot TN-2365 ₹650 / 2,600 pages):  ₹0.25</a:t>
            </a:r>
          </a:p>
          <a:p>
            <a:pPr>
              <a:spcBef>
                <a:spcPts val="600"/>
              </a:spcBef>
              <a:defRPr sz="1000" b="0">
                <a:solidFill>
                  <a:srgbClr val="475569"/>
                </a:solidFill>
              </a:defRPr>
            </a:pPr>
            <a:r>
              <a:t>Laser Drum Unit Wear &amp; Roller Maintenance (12,000 page lifespan):  ₹0.10</a:t>
            </a:r>
          </a:p>
          <a:p>
            <a:pPr>
              <a:spcBef>
                <a:spcPts val="600"/>
              </a:spcBef>
              <a:defRPr sz="1000" b="0">
                <a:solidFill>
                  <a:srgbClr val="475569"/>
                </a:solidFill>
              </a:defRPr>
            </a:pPr>
            <a:r>
              <a:t>Campus Electricity &amp; UPS Loss (180W avg load @ ₹8/unit tariff):  ₹0.03</a:t>
            </a:r>
          </a:p>
          <a:p>
            <a:pPr>
              <a:spcBef>
                <a:spcPts val="600"/>
              </a:spcBef>
              <a:defRPr sz="1000" b="0">
                <a:solidFill>
                  <a:srgbClr val="475569"/>
                </a:solidFill>
              </a:defRPr>
            </a:pPr>
            <a:r>
              <a:t>Hostel/Campus Incubation Revenue Share &amp; Contingency Fund:  ₹0.25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TOTAL OPERATING COST PER SINGLE-SIDED PAGE:  ₹1.15 - ₹1.20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STUDENT SELLING PRICE (Market standard ₹2.00 - ₹3.00):  ₹2.50 / page</a:t>
            </a:r>
          </a:p>
          <a:p>
            <a:pPr>
              <a:spcBef>
                <a:spcPts val="600"/>
              </a:spcBef>
              <a:defRPr sz="1050" b="1">
                <a:solidFill>
                  <a:srgbClr val="059669"/>
                </a:solidFill>
              </a:defRPr>
            </a:pPr>
            <a:r>
              <a:t>NET OPERATING PROFIT PER PAGE:  ₹1.30 (52% Net Margin)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645920"/>
            <a:ext cx="4053535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9248" y="1938528"/>
            <a:ext cx="3468319" cy="4078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KEY FINANCIAL PILLARS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52% Healthy Net Margin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Generates ₹1.30 net profit per single-sided print, leaving ample buffer for machine wear and paper price fluctuations.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Auto-Duplex Incentive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Students get 2-sided print for ₹3.50 (saving ₹1.50). Conserves 40% paper stock while yielding ₹1.68 net profit.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Zero Bad Debt / Credit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100% upfront UPI collection guarantees zero unpaid printing tabs or coin handling losses.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Low Hardware CAPEX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Total kiosk hardware budget ₹48,420 enables rapid break-even within 4 to 10 months.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07 · PAYBACK &amp; ROI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Strict Capital Recovery Across 3 Campus Deployment Scenarios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CAPEX Recovery Model against ₹48,420 Hardware Investment across different density tiers.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56432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901952"/>
            <a:ext cx="2944368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CONSERVATIVE TIER</a:t>
            </a:r>
          </a:p>
          <a:p>
            <a:pPr>
              <a:spcBef>
                <a:spcPts val="500"/>
              </a:spcBef>
              <a:defRPr sz="1300" b="1">
                <a:solidFill>
                  <a:srgbClr val="0F172A"/>
                </a:solidFill>
              </a:defRPr>
            </a:pPr>
            <a:r>
              <a:t>Govt College Corridor / Dept Floor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• Average Daily Volume: 125 pages/day</a:t>
            </a:r>
            <a:br/>
            <a:r>
              <a:t>• Monthly Volume: 3,750 pages</a:t>
            </a:r>
            <a:br/>
            <a:r>
              <a:t>• Gross Revenue: ₹9,375 / month</a:t>
            </a:r>
            <a:br/>
            <a:r>
              <a:t>• Monthly Operating Cost: ₹4,500</a:t>
            </a:r>
            <a:br/>
            <a:r>
              <a:t>• Monthly Net Profit: ₹4,875 / month</a:t>
            </a:r>
          </a:p>
          <a:p>
            <a:pPr>
              <a:spcBef>
                <a:spcPts val="1800"/>
              </a:spcBef>
              <a:defRPr sz="1100" b="1">
                <a:solidFill>
                  <a:srgbClr val="2563EB"/>
                </a:solidFill>
              </a:defRPr>
            </a:pPr>
            <a:r>
              <a:t>Capital Payback: 10.5 Months Payback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56432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26864" y="1901952"/>
            <a:ext cx="2944368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REALISTIC TARGET</a:t>
            </a:r>
          </a:p>
          <a:p>
            <a:pPr>
              <a:spcBef>
                <a:spcPts val="500"/>
              </a:spcBef>
              <a:defRPr sz="1300" b="1">
                <a:solidFill>
                  <a:srgbClr val="0F172A"/>
                </a:solidFill>
              </a:defRPr>
            </a:pPr>
            <a:r>
              <a:t>Private Hostel Block (1,200 beds)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• Average Daily Volume: 300 pages/day</a:t>
            </a:r>
            <a:br/>
            <a:r>
              <a:t>• Monthly Volume: 9,000 pages</a:t>
            </a:r>
            <a:br/>
            <a:r>
              <a:t>• Gross Revenue: ₹22,500 / month</a:t>
            </a:r>
            <a:br/>
            <a:r>
              <a:t>• Monthly Operating Cost: ₹10,800</a:t>
            </a:r>
            <a:br/>
            <a:r>
              <a:t>• Monthly Net Profit: ₹11,700 / month</a:t>
            </a:r>
          </a:p>
          <a:p>
            <a:pPr>
              <a:spcBef>
                <a:spcPts val="1800"/>
              </a:spcBef>
              <a:defRPr sz="1100" b="1">
                <a:solidFill>
                  <a:srgbClr val="059669"/>
                </a:solidFill>
              </a:defRPr>
            </a:pPr>
            <a:r>
              <a:t>Capital Payback: 4.2 Months Payback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45920"/>
            <a:ext cx="3456432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1901952"/>
            <a:ext cx="2944368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46E5"/>
                </a:solidFill>
              </a:defRPr>
            </a:pPr>
            <a:r>
              <a:t>PEAK DENSITY TIER</a:t>
            </a:r>
          </a:p>
          <a:p>
            <a:pPr>
              <a:spcBef>
                <a:spcPts val="500"/>
              </a:spcBef>
              <a:defRPr sz="1300" b="1">
                <a:solidFill>
                  <a:srgbClr val="0F172A"/>
                </a:solidFill>
              </a:defRPr>
            </a:pPr>
            <a:r>
              <a:t>Academic Central Block / Exam Season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• Average Daily Volume: 600 pages/day</a:t>
            </a:r>
            <a:br/>
            <a:r>
              <a:t>• Monthly Volume: 18,000 pages</a:t>
            </a:r>
            <a:br/>
            <a:r>
              <a:t>• Gross Revenue: ₹45,000 / month</a:t>
            </a:r>
            <a:br/>
            <a:r>
              <a:t>• Monthly Operating Cost: ₹21,600</a:t>
            </a:r>
            <a:br/>
            <a:r>
              <a:t>• Monthly Net Profit: ₹23,400 / month</a:t>
            </a:r>
          </a:p>
          <a:p>
            <a:pPr>
              <a:spcBef>
                <a:spcPts val="1800"/>
              </a:spcBef>
              <a:defRPr sz="1100" b="1">
                <a:solidFill>
                  <a:srgbClr val="4F46E5"/>
                </a:solidFill>
              </a:defRPr>
            </a:pPr>
            <a:r>
              <a:t>Capital Payback: 2.1 Months Payback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08 · COMPETITIVE EDGE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Why Bittu Kiosk Wins Over Commercial Printing Franchises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Unmatched unit economics, open hardware architecture, and zero franchise royalty fees.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56432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901952"/>
            <a:ext cx="2944368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DC2626"/>
                </a:solidFill>
              </a:defRPr>
            </a:pPr>
            <a:r>
              <a:t>COMMERCIAL FRANCHISES (E.G. PRINTSTOP, VENDOR STALLS)</a:t>
            </a:r>
          </a:p>
          <a:p>
            <a:pPr>
              <a:spcBef>
                <a:spcPts val="500"/>
              </a:spcBef>
              <a:defRPr sz="1300" b="1">
                <a:solidFill>
                  <a:srgbClr val="0F172A"/>
                </a:solidFill>
              </a:defRPr>
            </a:pPr>
            <a:r>
              <a:t>High CAPEX &amp; Vendor Lock-In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</a:defRPr>
            </a:pPr>
            <a:r>
              <a:t>• Hardware Cost: ₹1.65 Lakh - ₹3.50 Lakh</a:t>
            </a:r>
            <a:br/>
            <a:r>
              <a:t>• Franchise Royalty: 20% - 30% cut on every print</a:t>
            </a:r>
            <a:br/>
            <a:r>
              <a:t>• Consumables: Locked proprietary cartridges at 3x market rate</a:t>
            </a:r>
            <a:br/>
            <a:r>
              <a:t>• Service: Slow response time for hostel repairs</a:t>
            </a:r>
            <a:br/>
            <a:r>
              <a:t>• Software: Rigid closed-source software with monthly subscription fees</a:t>
            </a:r>
          </a:p>
          <a:p>
            <a:pPr>
              <a:spcBef>
                <a:spcPts val="1400"/>
              </a:spcBef>
              <a:defRPr sz="1050" b="1">
                <a:solidFill>
                  <a:srgbClr val="DC2626"/>
                </a:solidFill>
              </a:defRPr>
            </a:pPr>
            <a:r>
              <a:t>Verdict: High Financial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56432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26864" y="1901952"/>
            <a:ext cx="2944368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DC2626"/>
                </a:solidFill>
              </a:defRPr>
            </a:pPr>
            <a:r>
              <a:t>TRADITIONAL CAMPUS MANUAL STALLS</a:t>
            </a:r>
          </a:p>
          <a:p>
            <a:pPr>
              <a:spcBef>
                <a:spcPts val="500"/>
              </a:spcBef>
              <a:defRPr sz="1300" b="1">
                <a:solidFill>
                  <a:srgbClr val="0F172A"/>
                </a:solidFill>
              </a:defRPr>
            </a:pPr>
            <a:r>
              <a:t>Curfew &amp; Severe Privacy Flaws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</a:defRPr>
            </a:pPr>
            <a:r>
              <a:t>• Hours: Strictly 9:00 AM - 5:30 PM (0 late-night access)</a:t>
            </a:r>
            <a:br/>
            <a:r>
              <a:t>• Privacy: Files exposed on public desktop &amp; WhatsApp Web</a:t>
            </a:r>
            <a:br/>
            <a:r>
              <a:t>• Queue Time: 30 - 45 minute morning submission queues</a:t>
            </a:r>
            <a:br/>
            <a:r>
              <a:t>• Labor: High manpower overhead for paper handling</a:t>
            </a:r>
            <a:br/>
            <a:r>
              <a:t>• Payment: Manual cash/change bottlenecks &amp; lost tabs</a:t>
            </a:r>
          </a:p>
          <a:p>
            <a:pPr>
              <a:spcBef>
                <a:spcPts val="1400"/>
              </a:spcBef>
              <a:defRPr sz="1050" b="1">
                <a:solidFill>
                  <a:srgbClr val="DC2626"/>
                </a:solidFill>
              </a:defRPr>
            </a:pPr>
            <a:r>
              <a:t>Verdict: Poor Student Experience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45920"/>
            <a:ext cx="3456432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1901952"/>
            <a:ext cx="2944368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59669"/>
                </a:solidFill>
              </a:defRPr>
            </a:pPr>
            <a:r>
              <a:t>BITTU XEROX KIOSK (OUR MODEL)</a:t>
            </a:r>
          </a:p>
          <a:p>
            <a:pPr>
              <a:spcBef>
                <a:spcPts val="500"/>
              </a:spcBef>
              <a:defRPr sz="1300" b="1">
                <a:solidFill>
                  <a:srgbClr val="0F172A"/>
                </a:solidFill>
              </a:defRPr>
            </a:pPr>
            <a:r>
              <a:t>Lean, Open &amp; 24/7 Scalable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</a:defRPr>
            </a:pPr>
            <a:r>
              <a:t>• Hardware Cost: ₹48,420 (75% lower initial CAPEX)</a:t>
            </a:r>
            <a:br/>
            <a:r>
              <a:t>• Franchise Royalty: 0% — 100% retained by campus/founder</a:t>
            </a:r>
            <a:br/>
            <a:r>
              <a:t>• Consumables: Open COTS Brother/Canon standard supplies</a:t>
            </a:r>
            <a:br/>
            <a:r>
              <a:t>• Availability: 24/7/365 continuous unattended operation</a:t>
            </a:r>
            <a:br/>
            <a:r>
              <a:t>• Privacy: Ephemeral RAM spooler + Auto-Shred compliance</a:t>
            </a:r>
          </a:p>
          <a:p>
            <a:pPr>
              <a:spcBef>
                <a:spcPts val="1400"/>
              </a:spcBef>
              <a:defRPr sz="1050" b="1">
                <a:solidFill>
                  <a:srgbClr val="059669"/>
                </a:solidFill>
              </a:defRPr>
            </a:pPr>
            <a:r>
              <a:t>Verdict: Optimal Campus Fit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09 · SMART CAMPUS INTEGRATION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Seamless Integration with University ERP &amp; WhatsApp Ecosystem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Purpose-built digital workflows tailored for Indian collegiate academic operations.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56432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901952"/>
            <a:ext cx="2944368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1-TAP EXAM HALL TICKETS</a:t>
            </a:r>
          </a:p>
          <a:p>
            <a:pPr>
              <a:spcBef>
                <a:spcPts val="500"/>
              </a:spcBef>
              <a:defRPr sz="1400" b="1">
                <a:solidFill>
                  <a:srgbClr val="0F172A"/>
                </a:solidFill>
              </a:defRPr>
            </a:pPr>
            <a:r>
              <a:t>Direct University ERP Bridge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• Integrates with University Student Portals (e.g., KL ERP).</a:t>
            </a:r>
            <a:br/>
            <a:r>
              <a:t>• Authenticated students can print watermarked mid-term &amp; semester hall tickets with 1 touch.</a:t>
            </a:r>
            <a:br/>
            <a:r>
              <a:t>• Eliminates admin office queues before semester exams.</a:t>
            </a:r>
          </a:p>
          <a:p>
            <a:pPr>
              <a:spcBef>
                <a:spcPts val="1600"/>
              </a:spcBef>
              <a:defRPr sz="1000" b="1">
                <a:solidFill>
                  <a:srgbClr val="2563EB"/>
                </a:solidFill>
              </a:defRPr>
            </a:pPr>
            <a:r>
              <a:t>Advantage: Zero Queue Pre-Exam Rush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56432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26864" y="1901952"/>
            <a:ext cx="2944368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WHATSAPP DOCUMENT BOT</a:t>
            </a:r>
          </a:p>
          <a:p>
            <a:pPr>
              <a:spcBef>
                <a:spcPts val="500"/>
              </a:spcBef>
              <a:defRPr sz="1400" b="1">
                <a:solidFill>
                  <a:srgbClr val="0F172A"/>
                </a:solidFill>
              </a:defRPr>
            </a:pPr>
            <a:r>
              <a:t>Remote OTP PIN Express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• Students forward document from hostel bed to Bittu WhatsApp Bot.</a:t>
            </a:r>
            <a:br/>
            <a:r>
              <a:t>• Bot replies with dynamic 4-digit PIN code valid for 2 hours.</a:t>
            </a:r>
            <a:br/>
            <a:r>
              <a:t>• Student walks up, punches PIN on touch screen, and collects document in 10 seconds.</a:t>
            </a:r>
          </a:p>
          <a:p>
            <a:pPr>
              <a:spcBef>
                <a:spcPts val="1600"/>
              </a:spcBef>
              <a:defRPr sz="1000" b="1">
                <a:solidFill>
                  <a:srgbClr val="2563EB"/>
                </a:solidFill>
              </a:defRPr>
            </a:pPr>
            <a:r>
              <a:t>Advantage: Instant Walk-Up Collect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45920"/>
            <a:ext cx="3456432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1901952"/>
            <a:ext cx="2944368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MULTILINGUAL ACCESSIBLE UI</a:t>
            </a:r>
          </a:p>
          <a:p>
            <a:pPr>
              <a:spcBef>
                <a:spcPts val="500"/>
              </a:spcBef>
              <a:defRPr sz="1400" b="1">
                <a:solidFill>
                  <a:srgbClr val="0F172A"/>
                </a:solidFill>
              </a:defRPr>
            </a:pPr>
            <a:r>
              <a:t>Inclusive Student Interface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• Intuitive GUI designed with large, high-contrast touch targets.</a:t>
            </a:r>
            <a:br/>
            <a:r>
              <a:t>• Full multilingual language switcher supporting English, Telugu, and Hindi.</a:t>
            </a:r>
            <a:br/>
            <a:r>
              <a:t>• Audio cue confirmation upon successful print tray delivery.</a:t>
            </a:r>
          </a:p>
          <a:p>
            <a:pPr>
              <a:spcBef>
                <a:spcPts val="1600"/>
              </a:spcBef>
              <a:defRPr sz="1000" b="1">
                <a:solidFill>
                  <a:srgbClr val="2563EB"/>
                </a:solidFill>
              </a:defRPr>
            </a:pPr>
            <a:r>
              <a:t>Advantage: 100% Inclusive Campus Reach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10 · EXECUTION PLAN &amp; THE ASK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60-Day Pilot Deployment Plan &amp; University Incubation Support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Clear roadmap from workshop prototype to live hostel testbed.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938528"/>
            <a:ext cx="4626864" cy="4078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60-DAY PILOT EXECUTION ROADMAP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Days 01 - 20 · Procurement &amp; Fabrication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Procure COTS hardware (Brother printer, Pi 4, UPS) and fabricate 1.2mm CRCA steel chassis via local laser cutting &amp; powder coating.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Days 21 - 40 · Firmware &amp; Payment Integration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Install headless Linux CUPS, ephemeral RAM spooling daemon, and integrate PhonePe/UPI dynamic QR webhook gateway.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Days 41 - 60 · Live Pilot in KL Boys Hostel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Deploy Kiosk Unit 01 in KL University Boys Hostel ground corridor serving 1,200 students for real-world load &amp; stress testing.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645920"/>
            <a:ext cx="521208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40703" y="1938528"/>
            <a:ext cx="4626864" cy="4078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INCUBATION &amp; CAMPUS SUPPORT REQUESTED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0.36 m² Physical Space Permission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A small 4 sq.ft footprint near the hostel warden office / entrance lobby.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Standard Electrical &amp; Wi-Fi Point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1 single 5A/15A wall power socket + campus Wi-Fi / LAN connection.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₹48,420 Prototype Seed Grant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Direct hardware procurement grant for Unit 01 components (BOM verified in procurement sheet).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Pilot Mentorship &amp; Campus Pilot Pass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Support from KL Incubation Center for legal student testing &amp; campus feedback.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0728655" cy="5577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005840"/>
            <a:ext cx="99056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Calibri"/>
              </a:defRPr>
            </a:pPr>
            <a:r>
              <a:t>SMART CAMPUS INFRASTRUCTURE · INNOVATION FOR STUDENTS</a:t>
            </a:r>
          </a:p>
          <a:p>
            <a:pPr>
              <a:spcBef>
                <a:spcPts val="800"/>
              </a:spcBef>
              <a:defRPr sz="3800" b="1">
                <a:solidFill>
                  <a:srgbClr val="0F172A"/>
                </a:solidFill>
                <a:latin typeface="Calibri"/>
              </a:defRPr>
            </a:pPr>
            <a:r>
              <a:t>Autonomous. Private. 24/7.</a:t>
            </a:r>
          </a:p>
          <a:p>
            <a:pPr>
              <a:spcBef>
                <a:spcPts val="600"/>
              </a:spcBef>
              <a:defRPr sz="1500">
                <a:solidFill>
                  <a:srgbClr val="64748B"/>
                </a:solidFill>
                <a:latin typeface="Calibri"/>
              </a:defRPr>
            </a:pPr>
            <a:r>
              <a:t>Solving the campus printing crisis with modern, privacy-first, zero-clerk technology.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3291840"/>
            <a:ext cx="9905695" cy="2286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3474720"/>
            <a:ext cx="9357055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INITIATIVE &amp; CONTACT DETAILS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Project Lead:  Sai Nikhil Vukka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Department:  Department of Computer Science &amp; Engineering, KL University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Project Repository:  https://github.com/Sai0Nikhil/Xerox_kisok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Core Engineering:  Raspberry Pi 4B CUPS Spooler · Brother Auto-Duplex · 1.2mm CRCA Steel Enclosure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Incubation Goal:  Deploying Unit 01 in KL Hostels to eliminate midnight printing bottlenecks.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